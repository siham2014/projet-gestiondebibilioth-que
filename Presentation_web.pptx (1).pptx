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pen Sans 1" charset="1" panose="00000000000000000000"/>
      <p:regular r:id="rId22"/>
    </p:embeddedFont>
    <p:embeddedFont>
      <p:font typeface="Arial" charset="1" panose="020B0502020202020204"/>
      <p:regular r:id="rId23"/>
    </p:embeddedFont>
    <p:embeddedFont>
      <p:font typeface="Calibri (MS)" charset="1" panose="020F0502020204030204"/>
      <p:regular r:id="rId24"/>
    </p:embeddedFont>
    <p:embeddedFont>
      <p:font typeface="Calibri (MS) Bold" charset="1" panose="020F0702030404030204"/>
      <p:regular r:id="rId25"/>
    </p:embeddedFont>
    <p:embeddedFont>
      <p:font typeface="Open Sans 1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https://www.canva.com/design/DAGGoy0rypU/3vs3V5x8dninwmC8sh6Rig/edit?utm_content=DAGGoy0rypU&amp;utm_campaign=designshare&amp;utm_medium=link2&amp;utm_source=sharebutton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38.png" Type="http://schemas.openxmlformats.org/officeDocument/2006/relationships/image"/><Relationship Id="rId14" Target="../media/image39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media/image47.png" Type="http://schemas.openxmlformats.org/officeDocument/2006/relationships/imag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14" Target="../media/image58.png" Type="http://schemas.openxmlformats.org/officeDocument/2006/relationships/image"/><Relationship Id="rId15" Target="../media/image59.svg" Type="http://schemas.openxmlformats.org/officeDocument/2006/relationships/image"/><Relationship Id="rId16" Target="../media/image60.png" Type="http://schemas.openxmlformats.org/officeDocument/2006/relationships/image"/><Relationship Id="rId17" Target="../media/image61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6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64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502" cy="10287000"/>
          </a:xfrm>
          <a:custGeom>
            <a:avLst/>
            <a:gdLst/>
            <a:ahLst/>
            <a:cxnLst/>
            <a:rect r="r" b="b" t="t" l="l"/>
            <a:pathLst>
              <a:path h="10287000" w="18288502">
                <a:moveTo>
                  <a:pt x="0" y="0"/>
                </a:moveTo>
                <a:lnTo>
                  <a:pt x="18288502" y="0"/>
                </a:lnTo>
                <a:lnTo>
                  <a:pt x="182885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30124" y="1911591"/>
            <a:ext cx="9446895" cy="3807687"/>
            <a:chOff x="0" y="0"/>
            <a:chExt cx="12595860" cy="50769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95860" cy="5076916"/>
            </a:xfrm>
            <a:custGeom>
              <a:avLst/>
              <a:gdLst/>
              <a:ahLst/>
              <a:cxnLst/>
              <a:rect r="r" b="b" t="t" l="l"/>
              <a:pathLst>
                <a:path h="5076916" w="12595860">
                  <a:moveTo>
                    <a:pt x="0" y="0"/>
                  </a:moveTo>
                  <a:lnTo>
                    <a:pt x="12595860" y="0"/>
                  </a:lnTo>
                  <a:lnTo>
                    <a:pt x="12595860" y="5076916"/>
                  </a:lnTo>
                  <a:lnTo>
                    <a:pt x="0" y="5076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47650"/>
              <a:ext cx="12595860" cy="48292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1100"/>
                </a:lnSpc>
              </a:pPr>
              <a:r>
                <a:rPr lang="en-US" sz="11499" spc="-142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PRESENTATION DU PROJET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647035" y="67556"/>
            <a:ext cx="5504815" cy="2199005"/>
          </a:xfrm>
          <a:custGeom>
            <a:avLst/>
            <a:gdLst/>
            <a:ahLst/>
            <a:cxnLst/>
            <a:rect r="r" b="b" t="t" l="l"/>
            <a:pathLst>
              <a:path h="2199005" w="5504815">
                <a:moveTo>
                  <a:pt x="0" y="0"/>
                </a:moveTo>
                <a:lnTo>
                  <a:pt x="5504815" y="0"/>
                </a:lnTo>
                <a:lnTo>
                  <a:pt x="5504815" y="2199005"/>
                </a:lnTo>
                <a:lnTo>
                  <a:pt x="0" y="2199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440014" y="5728127"/>
            <a:ext cx="9585960" cy="1186662"/>
            <a:chOff x="0" y="0"/>
            <a:chExt cx="12781280" cy="15822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81280" cy="1582217"/>
            </a:xfrm>
            <a:custGeom>
              <a:avLst/>
              <a:gdLst/>
              <a:ahLst/>
              <a:cxnLst/>
              <a:rect r="r" b="b" t="t" l="l"/>
              <a:pathLst>
                <a:path h="1582217" w="12781280">
                  <a:moveTo>
                    <a:pt x="0" y="0"/>
                  </a:moveTo>
                  <a:lnTo>
                    <a:pt x="12781280" y="0"/>
                  </a:lnTo>
                  <a:lnTo>
                    <a:pt x="12781280" y="1582217"/>
                  </a:lnTo>
                  <a:lnTo>
                    <a:pt x="0" y="1582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2781280" cy="159174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spc="-38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Creation d’un site web: Edunet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88682" y="7494596"/>
            <a:ext cx="4219575" cy="2787650"/>
            <a:chOff x="0" y="0"/>
            <a:chExt cx="5626100" cy="37168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26100" cy="3716867"/>
            </a:xfrm>
            <a:custGeom>
              <a:avLst/>
              <a:gdLst/>
              <a:ahLst/>
              <a:cxnLst/>
              <a:rect r="r" b="b" t="t" l="l"/>
              <a:pathLst>
                <a:path h="3716867" w="5626100">
                  <a:moveTo>
                    <a:pt x="0" y="0"/>
                  </a:moveTo>
                  <a:lnTo>
                    <a:pt x="5626100" y="0"/>
                  </a:lnTo>
                  <a:lnTo>
                    <a:pt x="5626100" y="3716867"/>
                  </a:lnTo>
                  <a:lnTo>
                    <a:pt x="0" y="37168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626100" cy="371686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3719"/>
                </a:lnSpc>
              </a:pPr>
              <a:r>
                <a:rPr lang="en-US" sz="3099" spc="-20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presente par:</a:t>
              </a:r>
            </a:p>
            <a:p>
              <a:pPr algn="just">
                <a:lnSpc>
                  <a:spcPts val="3719"/>
                </a:lnSpc>
              </a:pPr>
              <a:r>
                <a:rPr lang="en-US" sz="3099" spc="-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-Haiti Aya</a:t>
              </a:r>
            </a:p>
            <a:p>
              <a:pPr algn="just">
                <a:lnSpc>
                  <a:spcPts val="3719"/>
                </a:lnSpc>
              </a:pPr>
              <a:r>
                <a:rPr lang="en-US" sz="3099" spc="-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-Al yassoul Siham</a:t>
              </a:r>
            </a:p>
            <a:p>
              <a:pPr algn="just">
                <a:lnSpc>
                  <a:spcPts val="3719"/>
                </a:lnSpc>
              </a:pPr>
              <a:r>
                <a:rPr lang="en-US" sz="3099" spc="-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-Oulhadj Mohammed</a:t>
              </a:r>
            </a:p>
            <a:p>
              <a:pPr algn="just">
                <a:lnSpc>
                  <a:spcPts val="37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28740" y="9151946"/>
            <a:ext cx="4194175" cy="1179982"/>
            <a:chOff x="0" y="0"/>
            <a:chExt cx="5592233" cy="15733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92233" cy="1573309"/>
            </a:xfrm>
            <a:custGeom>
              <a:avLst/>
              <a:gdLst/>
              <a:ahLst/>
              <a:cxnLst/>
              <a:rect r="r" b="b" t="t" l="l"/>
              <a:pathLst>
                <a:path h="1573309" w="5592233">
                  <a:moveTo>
                    <a:pt x="0" y="0"/>
                  </a:moveTo>
                  <a:lnTo>
                    <a:pt x="5592233" y="0"/>
                  </a:lnTo>
                  <a:lnTo>
                    <a:pt x="5592233" y="1573309"/>
                  </a:lnTo>
                  <a:lnTo>
                    <a:pt x="0" y="15733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5592233" cy="16304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48"/>
                </a:lnSpc>
              </a:pPr>
              <a:r>
                <a:rPr lang="en-US" sz="3099" spc="-26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Encadre par: Pr.Mohamed CHERRADI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86118" y="67556"/>
            <a:ext cx="2153338" cy="1673225"/>
            <a:chOff x="0" y="0"/>
            <a:chExt cx="2871118" cy="22309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2940" cy="2230967"/>
            </a:xfrm>
            <a:custGeom>
              <a:avLst/>
              <a:gdLst/>
              <a:ahLst/>
              <a:cxnLst/>
              <a:rect r="r" b="b" t="t" l="l"/>
              <a:pathLst>
                <a:path h="2230967" w="1932940">
                  <a:moveTo>
                    <a:pt x="0" y="0"/>
                  </a:moveTo>
                  <a:lnTo>
                    <a:pt x="1932940" y="0"/>
                  </a:lnTo>
                  <a:lnTo>
                    <a:pt x="1932940" y="2230967"/>
                  </a:lnTo>
                  <a:lnTo>
                    <a:pt x="0" y="2230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679709" y="520120"/>
              <a:ext cx="2191409" cy="1361948"/>
              <a:chOff x="0" y="0"/>
              <a:chExt cx="2191409" cy="13619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91408" cy="1361948"/>
              </a:xfrm>
              <a:custGeom>
                <a:avLst/>
                <a:gdLst/>
                <a:ahLst/>
                <a:cxnLst/>
                <a:rect r="r" b="b" t="t" l="l"/>
                <a:pathLst>
                  <a:path h="1361948" w="2191408">
                    <a:moveTo>
                      <a:pt x="0" y="0"/>
                    </a:moveTo>
                    <a:lnTo>
                      <a:pt x="2191408" y="0"/>
                    </a:lnTo>
                    <a:lnTo>
                      <a:pt x="2191408" y="1361948"/>
                    </a:lnTo>
                    <a:lnTo>
                      <a:pt x="0" y="136194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04775"/>
                <a:ext cx="2191409" cy="1466723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6659"/>
                  </a:lnSpc>
                </a:pPr>
                <a:r>
                  <a:rPr lang="en-US" sz="5550" spc="-570">
                    <a:solidFill>
                      <a:srgbClr val="F5F2EB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934" y="52922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60739" y="390090"/>
            <a:ext cx="4995545" cy="1320800"/>
            <a:chOff x="0" y="0"/>
            <a:chExt cx="6660727" cy="17610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60727" cy="1761067"/>
            </a:xfrm>
            <a:custGeom>
              <a:avLst/>
              <a:gdLst/>
              <a:ahLst/>
              <a:cxnLst/>
              <a:rect r="r" b="b" t="t" l="l"/>
              <a:pathLst>
                <a:path h="1761067" w="6660727">
                  <a:moveTo>
                    <a:pt x="0" y="0"/>
                  </a:moveTo>
                  <a:lnTo>
                    <a:pt x="6660727" y="0"/>
                  </a:lnTo>
                  <a:lnTo>
                    <a:pt x="6660727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660727" cy="176106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9"/>
                </a:lnSpc>
              </a:pPr>
              <a:r>
                <a:rPr lang="en-US" sz="6099" spc="-78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SOMMAIRE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73319" y="8819967"/>
            <a:ext cx="1541145" cy="561101"/>
            <a:chOff x="0" y="0"/>
            <a:chExt cx="2054860" cy="7481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4860" cy="748134"/>
            </a:xfrm>
            <a:custGeom>
              <a:avLst/>
              <a:gdLst/>
              <a:ahLst/>
              <a:cxnLst/>
              <a:rect r="r" b="b" t="t" l="l"/>
              <a:pathLst>
                <a:path h="748134" w="2054860">
                  <a:moveTo>
                    <a:pt x="0" y="0"/>
                  </a:moveTo>
                  <a:lnTo>
                    <a:pt x="2054860" y="0"/>
                  </a:lnTo>
                  <a:lnTo>
                    <a:pt x="2054860" y="748134"/>
                  </a:lnTo>
                  <a:lnTo>
                    <a:pt x="0" y="748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54860" cy="7576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spc="-24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Sommaire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28042" y="7629905"/>
            <a:ext cx="3967480" cy="769621"/>
            <a:chOff x="0" y="0"/>
            <a:chExt cx="5289973" cy="10261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89973" cy="1026162"/>
            </a:xfrm>
            <a:custGeom>
              <a:avLst/>
              <a:gdLst/>
              <a:ahLst/>
              <a:cxnLst/>
              <a:rect r="r" b="b" t="t" l="l"/>
              <a:pathLst>
                <a:path h="1026162" w="5289973">
                  <a:moveTo>
                    <a:pt x="0" y="0"/>
                  </a:moveTo>
                  <a:lnTo>
                    <a:pt x="5289973" y="0"/>
                  </a:lnTo>
                  <a:lnTo>
                    <a:pt x="5289973" y="1026162"/>
                  </a:lnTo>
                  <a:lnTo>
                    <a:pt x="0" y="1026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289973" cy="102616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spc="-8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FRONT-END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004815"/>
            <a:ext cx="6845300" cy="132715"/>
            <a:chOff x="0" y="0"/>
            <a:chExt cx="9127067" cy="1769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26474" cy="176911"/>
            </a:xfrm>
            <a:custGeom>
              <a:avLst/>
              <a:gdLst/>
              <a:ahLst/>
              <a:cxnLst/>
              <a:rect r="r" b="b" t="t" l="l"/>
              <a:pathLst>
                <a:path h="176911" w="9126474">
                  <a:moveTo>
                    <a:pt x="9125966" y="176911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9126474" y="24511"/>
                  </a:lnTo>
                  <a:lnTo>
                    <a:pt x="9126093" y="176911"/>
                  </a:lnTo>
                  <a:close/>
                </a:path>
              </a:pathLst>
            </a:custGeom>
            <a:solidFill>
              <a:srgbClr val="0F4F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15" y="9004117"/>
            <a:ext cx="6858000" cy="132715"/>
            <a:chOff x="0" y="0"/>
            <a:chExt cx="9144000" cy="1769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0" cy="176911"/>
            </a:xfrm>
            <a:custGeom>
              <a:avLst/>
              <a:gdLst/>
              <a:ahLst/>
              <a:cxnLst/>
              <a:rect r="r" b="b" t="t" l="l"/>
              <a:pathLst>
                <a:path h="176911" w="9144000">
                  <a:moveTo>
                    <a:pt x="9144000" y="176911"/>
                  </a:moveTo>
                  <a:lnTo>
                    <a:pt x="0" y="152400"/>
                  </a:lnTo>
                  <a:lnTo>
                    <a:pt x="381" y="0"/>
                  </a:lnTo>
                  <a:lnTo>
                    <a:pt x="9144000" y="24511"/>
                  </a:lnTo>
                  <a:lnTo>
                    <a:pt x="9144000" y="176911"/>
                  </a:lnTo>
                  <a:close/>
                </a:path>
              </a:pathLst>
            </a:custGeom>
            <a:solidFill>
              <a:srgbClr val="0F4F4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915854" y="0"/>
            <a:ext cx="2153338" cy="1673225"/>
            <a:chOff x="0" y="0"/>
            <a:chExt cx="2871118" cy="22309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940" cy="2230967"/>
            </a:xfrm>
            <a:custGeom>
              <a:avLst/>
              <a:gdLst/>
              <a:ahLst/>
              <a:cxnLst/>
              <a:rect r="r" b="b" t="t" l="l"/>
              <a:pathLst>
                <a:path h="2230967" w="1932940">
                  <a:moveTo>
                    <a:pt x="0" y="0"/>
                  </a:moveTo>
                  <a:lnTo>
                    <a:pt x="1932940" y="0"/>
                  </a:lnTo>
                  <a:lnTo>
                    <a:pt x="1932940" y="2230967"/>
                  </a:lnTo>
                  <a:lnTo>
                    <a:pt x="0" y="2230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679709" y="520120"/>
              <a:ext cx="2191409" cy="1361948"/>
              <a:chOff x="0" y="0"/>
              <a:chExt cx="2191409" cy="136194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91408" cy="1361948"/>
              </a:xfrm>
              <a:custGeom>
                <a:avLst/>
                <a:gdLst/>
                <a:ahLst/>
                <a:cxnLst/>
                <a:rect r="r" b="b" t="t" l="l"/>
                <a:pathLst>
                  <a:path h="1361948" w="2191408">
                    <a:moveTo>
                      <a:pt x="0" y="0"/>
                    </a:moveTo>
                    <a:lnTo>
                      <a:pt x="2191408" y="0"/>
                    </a:lnTo>
                    <a:lnTo>
                      <a:pt x="2191408" y="1361948"/>
                    </a:lnTo>
                    <a:lnTo>
                      <a:pt x="0" y="136194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04775"/>
                <a:ext cx="2191409" cy="1466723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6659"/>
                  </a:lnSpc>
                </a:pPr>
                <a:r>
                  <a:rPr lang="en-US" sz="5550" spc="-570">
                    <a:solidFill>
                      <a:srgbClr val="F5F2EB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150481" y="434332"/>
            <a:ext cx="4319905" cy="2476500"/>
          </a:xfrm>
          <a:custGeom>
            <a:avLst/>
            <a:gdLst/>
            <a:ahLst/>
            <a:cxnLst/>
            <a:rect r="r" b="b" t="t" l="l"/>
            <a:pathLst>
              <a:path h="2476500" w="4319905">
                <a:moveTo>
                  <a:pt x="0" y="0"/>
                </a:moveTo>
                <a:lnTo>
                  <a:pt x="4319905" y="0"/>
                </a:lnTo>
                <a:lnTo>
                  <a:pt x="4319905" y="2476500"/>
                </a:lnTo>
                <a:lnTo>
                  <a:pt x="0" y="2476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855531" y="9718421"/>
            <a:ext cx="4587875" cy="2474595"/>
          </a:xfrm>
          <a:custGeom>
            <a:avLst/>
            <a:gdLst/>
            <a:ahLst/>
            <a:cxnLst/>
            <a:rect r="r" b="b" t="t" l="l"/>
            <a:pathLst>
              <a:path h="2474595" w="4587875">
                <a:moveTo>
                  <a:pt x="0" y="0"/>
                </a:moveTo>
                <a:lnTo>
                  <a:pt x="4587875" y="0"/>
                </a:lnTo>
                <a:lnTo>
                  <a:pt x="4587875" y="2474595"/>
                </a:lnTo>
                <a:lnTo>
                  <a:pt x="0" y="2474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449004" y="2652328"/>
            <a:ext cx="1579038" cy="1078992"/>
            <a:chOff x="0" y="0"/>
            <a:chExt cx="2105384" cy="14386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5384" cy="1438656"/>
            </a:xfrm>
            <a:custGeom>
              <a:avLst/>
              <a:gdLst/>
              <a:ahLst/>
              <a:cxnLst/>
              <a:rect r="r" b="b" t="t" l="l"/>
              <a:pathLst>
                <a:path h="1438656" w="2105384">
                  <a:moveTo>
                    <a:pt x="0" y="0"/>
                  </a:moveTo>
                  <a:lnTo>
                    <a:pt x="2105384" y="0"/>
                  </a:lnTo>
                  <a:lnTo>
                    <a:pt x="2105384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2105384" cy="15529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020"/>
                </a:lnSpc>
              </a:pPr>
              <a:r>
                <a:rPr lang="en-US" sz="5850" spc="-12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9004" y="5871576"/>
            <a:ext cx="1000760" cy="1078992"/>
            <a:chOff x="0" y="0"/>
            <a:chExt cx="1334347" cy="14386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34347" cy="1438656"/>
            </a:xfrm>
            <a:custGeom>
              <a:avLst/>
              <a:gdLst/>
              <a:ahLst/>
              <a:cxnLst/>
              <a:rect r="r" b="b" t="t" l="l"/>
              <a:pathLst>
                <a:path h="1438656" w="1334347">
                  <a:moveTo>
                    <a:pt x="0" y="0"/>
                  </a:moveTo>
                  <a:lnTo>
                    <a:pt x="1334347" y="0"/>
                  </a:lnTo>
                  <a:lnTo>
                    <a:pt x="1334347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14300"/>
              <a:ext cx="1334347" cy="15529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020"/>
                </a:lnSpc>
              </a:pPr>
              <a:r>
                <a:rPr lang="en-US" sz="5850" spc="-12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03.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49004" y="4400551"/>
            <a:ext cx="989330" cy="1078992"/>
            <a:chOff x="0" y="0"/>
            <a:chExt cx="1319107" cy="14386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9107" cy="1438656"/>
            </a:xfrm>
            <a:custGeom>
              <a:avLst/>
              <a:gdLst/>
              <a:ahLst/>
              <a:cxnLst/>
              <a:rect r="r" b="b" t="t" l="l"/>
              <a:pathLst>
                <a:path h="1438656" w="1319107">
                  <a:moveTo>
                    <a:pt x="0" y="0"/>
                  </a:moveTo>
                  <a:lnTo>
                    <a:pt x="1319107" y="0"/>
                  </a:lnTo>
                  <a:lnTo>
                    <a:pt x="1319107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1319107" cy="15529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020"/>
                </a:lnSpc>
              </a:pPr>
              <a:r>
                <a:rPr lang="en-US" sz="5850" spc="-12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02.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275863" y="2652328"/>
            <a:ext cx="4156459" cy="769621"/>
            <a:chOff x="0" y="0"/>
            <a:chExt cx="5541945" cy="10261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41945" cy="1026162"/>
            </a:xfrm>
            <a:custGeom>
              <a:avLst/>
              <a:gdLst/>
              <a:ahLst/>
              <a:cxnLst/>
              <a:rect r="r" b="b" t="t" l="l"/>
              <a:pathLst>
                <a:path h="1026162" w="5541945">
                  <a:moveTo>
                    <a:pt x="0" y="0"/>
                  </a:moveTo>
                  <a:lnTo>
                    <a:pt x="5541945" y="0"/>
                  </a:lnTo>
                  <a:lnTo>
                    <a:pt x="5541945" y="1026162"/>
                  </a:lnTo>
                  <a:lnTo>
                    <a:pt x="0" y="1026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541945" cy="102616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spc="-8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INTRODUCTION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275863" y="4274249"/>
            <a:ext cx="3967480" cy="869251"/>
            <a:chOff x="0" y="0"/>
            <a:chExt cx="5289973" cy="115900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89973" cy="1159002"/>
            </a:xfrm>
            <a:custGeom>
              <a:avLst/>
              <a:gdLst/>
              <a:ahLst/>
              <a:cxnLst/>
              <a:rect r="r" b="b" t="t" l="l"/>
              <a:pathLst>
                <a:path h="1159002" w="5289973">
                  <a:moveTo>
                    <a:pt x="0" y="0"/>
                  </a:moveTo>
                  <a:lnTo>
                    <a:pt x="5289973" y="0"/>
                  </a:lnTo>
                  <a:lnTo>
                    <a:pt x="5289973" y="1159002"/>
                  </a:lnTo>
                  <a:lnTo>
                    <a:pt x="0" y="11590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289973" cy="115900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spc="-8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MCD   /   MLD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492278" y="7150780"/>
            <a:ext cx="3113171" cy="769621"/>
            <a:chOff x="0" y="0"/>
            <a:chExt cx="4150894" cy="102616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50894" cy="1026161"/>
            </a:xfrm>
            <a:custGeom>
              <a:avLst/>
              <a:gdLst/>
              <a:ahLst/>
              <a:cxnLst/>
              <a:rect r="r" b="b" t="t" l="l"/>
              <a:pathLst>
                <a:path h="1026161" w="4150894">
                  <a:moveTo>
                    <a:pt x="0" y="0"/>
                  </a:moveTo>
                  <a:lnTo>
                    <a:pt x="4150894" y="0"/>
                  </a:lnTo>
                  <a:lnTo>
                    <a:pt x="4150894" y="1026161"/>
                  </a:lnTo>
                  <a:lnTo>
                    <a:pt x="0" y="10261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50894" cy="102616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spc="-10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CONCLUSION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824493" y="4619639"/>
            <a:ext cx="848564" cy="94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9"/>
              </a:lnSpc>
              <a:spcBef>
                <a:spcPct val="0"/>
              </a:spcBef>
            </a:pPr>
          </a:p>
        </p:txBody>
      </p:sp>
      <p:grpSp>
        <p:nvGrpSpPr>
          <p:cNvPr name="Group 43" id="43"/>
          <p:cNvGrpSpPr/>
          <p:nvPr/>
        </p:nvGrpSpPr>
        <p:grpSpPr>
          <a:xfrm rot="0">
            <a:off x="9459768" y="7150780"/>
            <a:ext cx="1032510" cy="1078992"/>
            <a:chOff x="0" y="0"/>
            <a:chExt cx="1376680" cy="14386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76680" cy="1438656"/>
            </a:xfrm>
            <a:custGeom>
              <a:avLst/>
              <a:gdLst/>
              <a:ahLst/>
              <a:cxnLst/>
              <a:rect r="r" b="b" t="t" l="l"/>
              <a:pathLst>
                <a:path h="1438656" w="1376680">
                  <a:moveTo>
                    <a:pt x="0" y="0"/>
                  </a:moveTo>
                  <a:lnTo>
                    <a:pt x="1376680" y="0"/>
                  </a:lnTo>
                  <a:lnTo>
                    <a:pt x="1376680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14300"/>
              <a:ext cx="1376680" cy="15529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020"/>
                </a:lnSpc>
              </a:pPr>
              <a:r>
                <a:rPr lang="en-US" sz="5850" spc="-16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08.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75879" y="4015740"/>
            <a:ext cx="6364828" cy="769621"/>
            <a:chOff x="0" y="0"/>
            <a:chExt cx="8486437" cy="102616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486437" cy="1026161"/>
            </a:xfrm>
            <a:custGeom>
              <a:avLst/>
              <a:gdLst/>
              <a:ahLst/>
              <a:cxnLst/>
              <a:rect r="r" b="b" t="t" l="l"/>
              <a:pathLst>
                <a:path h="1026161" w="8486437">
                  <a:moveTo>
                    <a:pt x="0" y="0"/>
                  </a:moveTo>
                  <a:lnTo>
                    <a:pt x="8486437" y="0"/>
                  </a:lnTo>
                  <a:lnTo>
                    <a:pt x="8486437" y="1026161"/>
                  </a:lnTo>
                  <a:lnTo>
                    <a:pt x="0" y="10261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8486437" cy="102616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spc="-10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</a:t>
              </a:r>
              <a:r>
                <a:rPr lang="en-US" sz="3699" spc="-10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xigences Fonctionnelles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492278" y="5610718"/>
            <a:ext cx="6983421" cy="1339850"/>
            <a:chOff x="0" y="0"/>
            <a:chExt cx="9311228" cy="178646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11229" cy="1786467"/>
            </a:xfrm>
            <a:custGeom>
              <a:avLst/>
              <a:gdLst/>
              <a:ahLst/>
              <a:cxnLst/>
              <a:rect r="r" b="b" t="t" l="l"/>
              <a:pathLst>
                <a:path h="1786467" w="9311229">
                  <a:moveTo>
                    <a:pt x="0" y="0"/>
                  </a:moveTo>
                  <a:lnTo>
                    <a:pt x="9311229" y="0"/>
                  </a:lnTo>
                  <a:lnTo>
                    <a:pt x="9311229" y="1786467"/>
                  </a:lnTo>
                  <a:lnTo>
                    <a:pt x="0" y="1786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311228" cy="185314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176"/>
                </a:lnSpc>
              </a:pPr>
              <a:r>
                <a:rPr lang="en-US" sz="3699" spc="-10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DEMONSTRATION TECHNIQUE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359903" y="5555777"/>
            <a:ext cx="113237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0"/>
              </a:lnSpc>
              <a:spcBef>
                <a:spcPct val="0"/>
              </a:spcBef>
            </a:pPr>
            <a:r>
              <a:rPr lang="en-US" sz="5850" spc="-1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256370" y="3915442"/>
            <a:ext cx="101950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0"/>
              </a:lnSpc>
              <a:spcBef>
                <a:spcPct val="0"/>
              </a:spcBef>
            </a:pPr>
            <a:r>
              <a:rPr lang="en-US" sz="5850" spc="-1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2957913" y="5895832"/>
            <a:ext cx="6501855" cy="769621"/>
            <a:chOff x="0" y="0"/>
            <a:chExt cx="8669140" cy="102616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69140" cy="1026161"/>
            </a:xfrm>
            <a:custGeom>
              <a:avLst/>
              <a:gdLst/>
              <a:ahLst/>
              <a:cxnLst/>
              <a:rect r="r" b="b" t="t" l="l"/>
              <a:pathLst>
                <a:path h="1026161" w="8669140">
                  <a:moveTo>
                    <a:pt x="0" y="0"/>
                  </a:moveTo>
                  <a:lnTo>
                    <a:pt x="8669140" y="0"/>
                  </a:lnTo>
                  <a:lnTo>
                    <a:pt x="8669140" y="1026161"/>
                  </a:lnTo>
                  <a:lnTo>
                    <a:pt x="0" y="10261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8669140" cy="102616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spc="-10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3699" spc="-10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Les exigences techniques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256370" y="2538028"/>
            <a:ext cx="101950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0"/>
              </a:lnSpc>
              <a:spcBef>
                <a:spcPct val="0"/>
              </a:spcBef>
            </a:pPr>
            <a:r>
              <a:rPr lang="en-US" sz="5850" spc="-1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0492278" y="2652328"/>
            <a:ext cx="3184876" cy="769621"/>
            <a:chOff x="0" y="0"/>
            <a:chExt cx="4246501" cy="102616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46501" cy="1026162"/>
            </a:xfrm>
            <a:custGeom>
              <a:avLst/>
              <a:gdLst/>
              <a:ahLst/>
              <a:cxnLst/>
              <a:rect r="r" b="b" t="t" l="l"/>
              <a:pathLst>
                <a:path h="1026162" w="4246501">
                  <a:moveTo>
                    <a:pt x="0" y="0"/>
                  </a:moveTo>
                  <a:lnTo>
                    <a:pt x="4246501" y="0"/>
                  </a:lnTo>
                  <a:lnTo>
                    <a:pt x="4246501" y="1026162"/>
                  </a:lnTo>
                  <a:lnTo>
                    <a:pt x="0" y="1026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246501" cy="102616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spc="-8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BACK</a:t>
              </a:r>
              <a:r>
                <a:rPr lang="en-US" sz="3700" spc="-8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-END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49004" y="7629905"/>
            <a:ext cx="1000760" cy="1078992"/>
            <a:chOff x="0" y="0"/>
            <a:chExt cx="1334347" cy="14386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34347" cy="1438656"/>
            </a:xfrm>
            <a:custGeom>
              <a:avLst/>
              <a:gdLst/>
              <a:ahLst/>
              <a:cxnLst/>
              <a:rect r="r" b="b" t="t" l="l"/>
              <a:pathLst>
                <a:path h="1438656" w="1334347">
                  <a:moveTo>
                    <a:pt x="0" y="0"/>
                  </a:moveTo>
                  <a:lnTo>
                    <a:pt x="1334347" y="0"/>
                  </a:lnTo>
                  <a:lnTo>
                    <a:pt x="1334347" y="1438656"/>
                  </a:lnTo>
                  <a:lnTo>
                    <a:pt x="0" y="1438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14300"/>
              <a:ext cx="1334347" cy="155295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020"/>
                </a:lnSpc>
              </a:pPr>
              <a:r>
                <a:rPr lang="en-US" sz="5850" spc="-12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04.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65412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720689"/>
            <a:ext cx="6672580" cy="132715"/>
            <a:chOff x="0" y="0"/>
            <a:chExt cx="8896773" cy="1769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96223" cy="176276"/>
            </a:xfrm>
            <a:custGeom>
              <a:avLst/>
              <a:gdLst/>
              <a:ahLst/>
              <a:cxnLst/>
              <a:rect r="r" b="b" t="t" l="l"/>
              <a:pathLst>
                <a:path h="176276" w="8896223">
                  <a:moveTo>
                    <a:pt x="8895715" y="176276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8896223" y="23876"/>
                  </a:lnTo>
                  <a:lnTo>
                    <a:pt x="8895842" y="176276"/>
                  </a:lnTo>
                  <a:close/>
                </a:path>
              </a:pathLst>
            </a:custGeom>
            <a:solidFill>
              <a:srgbClr val="0F4F4E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654181" y="8019408"/>
            <a:ext cx="5504815" cy="2202180"/>
          </a:xfrm>
          <a:custGeom>
            <a:avLst/>
            <a:gdLst/>
            <a:ahLst/>
            <a:cxnLst/>
            <a:rect r="r" b="b" t="t" l="l"/>
            <a:pathLst>
              <a:path h="2202180" w="5504815">
                <a:moveTo>
                  <a:pt x="0" y="0"/>
                </a:moveTo>
                <a:lnTo>
                  <a:pt x="5504815" y="0"/>
                </a:lnTo>
                <a:lnTo>
                  <a:pt x="5504815" y="2202180"/>
                </a:lnTo>
                <a:lnTo>
                  <a:pt x="0" y="2202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549" y="133648"/>
            <a:ext cx="4618990" cy="1609725"/>
          </a:xfrm>
          <a:custGeom>
            <a:avLst/>
            <a:gdLst/>
            <a:ahLst/>
            <a:cxnLst/>
            <a:rect r="r" b="b" t="t" l="l"/>
            <a:pathLst>
              <a:path h="1609725" w="4618990">
                <a:moveTo>
                  <a:pt x="0" y="0"/>
                </a:moveTo>
                <a:lnTo>
                  <a:pt x="4618990" y="0"/>
                </a:lnTo>
                <a:lnTo>
                  <a:pt x="4618990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295073" y="427780"/>
            <a:ext cx="704850" cy="1021461"/>
            <a:chOff x="0" y="0"/>
            <a:chExt cx="939800" cy="13619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1361948"/>
            </a:xfrm>
            <a:custGeom>
              <a:avLst/>
              <a:gdLst/>
              <a:ahLst/>
              <a:cxnLst/>
              <a:rect r="r" b="b" t="t" l="l"/>
              <a:pathLst>
                <a:path h="1361948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939800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70">
                  <a:solidFill>
                    <a:srgbClr val="EBEBEB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424930" y="1703536"/>
            <a:ext cx="16214725" cy="117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3"/>
              </a:lnSpc>
            </a:pPr>
            <a:r>
              <a:rPr lang="en-US" sz="6099" spc="-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78693" y="3012279"/>
            <a:ext cx="14262014" cy="438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38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 pro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et vise à dével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pper 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 si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web Biblio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Tech, une plateforme de gestion de bibliothèque moderne, intuitive et sécurisée, répondant aux différents besoins des étudiants et administrateurs.</a:t>
            </a:r>
          </a:p>
          <a:p>
            <a:pPr algn="l" marL="755649" indent="-377824" lvl="1">
              <a:lnSpc>
                <a:spcPts val="4938"/>
              </a:lnSpc>
              <a:spcBef>
                <a:spcPct val="0"/>
              </a:spcBef>
              <a:buFont typeface="Arial"/>
              <a:buChar char="•"/>
            </a:pP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ministr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teur : gestio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 l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ivr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s, utilisateurs, réservations.</a:t>
            </a:r>
          </a:p>
          <a:p>
            <a:pPr algn="l" marL="755649" indent="-377824" lvl="1">
              <a:lnSpc>
                <a:spcPts val="4938"/>
              </a:lnSpc>
              <a:spcBef>
                <a:spcPct val="0"/>
              </a:spcBef>
              <a:buFont typeface="Arial"/>
              <a:buChar char="•"/>
            </a:pP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 Ét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diant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inscrip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ion, rés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rva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ion d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499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livres,consultation de livres,notifications.</a:t>
            </a:r>
          </a:p>
          <a:p>
            <a:pPr algn="l" marL="0" indent="0" lvl="0">
              <a:lnSpc>
                <a:spcPts val="4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50856" y="2092223"/>
            <a:ext cx="18288000" cy="3485943"/>
          </a:xfrm>
          <a:custGeom>
            <a:avLst/>
            <a:gdLst/>
            <a:ahLst/>
            <a:cxnLst/>
            <a:rect r="r" b="b" t="t" l="l"/>
            <a:pathLst>
              <a:path h="3485943" w="18288000">
                <a:moveTo>
                  <a:pt x="0" y="0"/>
                </a:moveTo>
                <a:lnTo>
                  <a:pt x="18288000" y="0"/>
                </a:lnTo>
                <a:lnTo>
                  <a:pt x="18288000" y="3485944"/>
                </a:lnTo>
                <a:lnTo>
                  <a:pt x="0" y="3485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29" r="0" b="-442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51278" y="438109"/>
            <a:ext cx="6412192" cy="92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20"/>
              </a:lnSpc>
              <a:spcBef>
                <a:spcPct val="0"/>
              </a:spcBef>
            </a:pPr>
            <a:r>
              <a:rPr lang="en-US" sz="6100" spc="-795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Data Base:</a:t>
            </a:r>
            <a:r>
              <a:rPr lang="en-US" sz="6100" spc="-795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online_library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32520" y="58518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640494" y="384414"/>
            <a:ext cx="833755" cy="1021461"/>
            <a:chOff x="0" y="0"/>
            <a:chExt cx="1111673" cy="13619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70">
                  <a:solidFill>
                    <a:srgbClr val="EBEBEB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332520" y="58518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640494" y="384414"/>
            <a:ext cx="833755" cy="1021461"/>
            <a:chOff x="0" y="0"/>
            <a:chExt cx="1111673" cy="13619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70">
                  <a:solidFill>
                    <a:srgbClr val="EBEBEB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097127" y="1028700"/>
            <a:ext cx="10278399" cy="8363169"/>
          </a:xfrm>
          <a:custGeom>
            <a:avLst/>
            <a:gdLst/>
            <a:ahLst/>
            <a:cxnLst/>
            <a:rect r="r" b="b" t="t" l="l"/>
            <a:pathLst>
              <a:path h="8363169" w="10278399">
                <a:moveTo>
                  <a:pt x="0" y="0"/>
                </a:moveTo>
                <a:lnTo>
                  <a:pt x="10278399" y="0"/>
                </a:lnTo>
                <a:lnTo>
                  <a:pt x="10278399" y="8363169"/>
                </a:lnTo>
                <a:lnTo>
                  <a:pt x="0" y="8363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00367" y="104748"/>
            <a:ext cx="1443633" cy="92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20"/>
              </a:lnSpc>
              <a:spcBef>
                <a:spcPct val="0"/>
              </a:spcBef>
            </a:pPr>
            <a:r>
              <a:rPr lang="en-US" sz="6100" spc="-795" strike="noStrike" u="none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MCD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469714"/>
            <a:ext cx="5501091" cy="1461784"/>
            <a:chOff x="0" y="0"/>
            <a:chExt cx="7334788" cy="1949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34788" cy="1949045"/>
            </a:xfrm>
            <a:custGeom>
              <a:avLst/>
              <a:gdLst/>
              <a:ahLst/>
              <a:cxnLst/>
              <a:rect r="r" b="b" t="t" l="l"/>
              <a:pathLst>
                <a:path h="1949045" w="7334788">
                  <a:moveTo>
                    <a:pt x="0" y="0"/>
                  </a:moveTo>
                  <a:lnTo>
                    <a:pt x="7334788" y="0"/>
                  </a:lnTo>
                  <a:lnTo>
                    <a:pt x="7334788" y="1949045"/>
                  </a:lnTo>
                  <a:lnTo>
                    <a:pt x="0" y="19490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7334788" cy="20252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979"/>
                </a:lnSpc>
              </a:pPr>
              <a:r>
                <a:rPr lang="en-US" sz="4149" spc="-8" b="true">
                  <a:solidFill>
                    <a:srgbClr val="121B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Sé</a:t>
              </a:r>
              <a:r>
                <a:rPr lang="en-US" sz="4149" spc="-8" b="true">
                  <a:solidFill>
                    <a:srgbClr val="121B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curité</a:t>
              </a:r>
            </a:p>
            <a:p>
              <a:pPr algn="l">
                <a:lnSpc>
                  <a:spcPts val="49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20689"/>
            <a:ext cx="6672580" cy="132715"/>
            <a:chOff x="0" y="0"/>
            <a:chExt cx="8896773" cy="1769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6223" cy="176276"/>
            </a:xfrm>
            <a:custGeom>
              <a:avLst/>
              <a:gdLst/>
              <a:ahLst/>
              <a:cxnLst/>
              <a:rect r="r" b="b" t="t" l="l"/>
              <a:pathLst>
                <a:path h="176276" w="8896223">
                  <a:moveTo>
                    <a:pt x="8895715" y="176276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8896223" y="23876"/>
                  </a:lnTo>
                  <a:lnTo>
                    <a:pt x="8895842" y="176276"/>
                  </a:lnTo>
                  <a:close/>
                </a:path>
              </a:pathLst>
            </a:custGeom>
            <a:solidFill>
              <a:srgbClr val="0F4F4E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654181" y="8019408"/>
            <a:ext cx="5504815" cy="2202180"/>
          </a:xfrm>
          <a:custGeom>
            <a:avLst/>
            <a:gdLst/>
            <a:ahLst/>
            <a:cxnLst/>
            <a:rect r="r" b="b" t="t" l="l"/>
            <a:pathLst>
              <a:path h="2202180" w="5504815">
                <a:moveTo>
                  <a:pt x="0" y="0"/>
                </a:moveTo>
                <a:lnTo>
                  <a:pt x="5504815" y="0"/>
                </a:lnTo>
                <a:lnTo>
                  <a:pt x="5504815" y="2202180"/>
                </a:lnTo>
                <a:lnTo>
                  <a:pt x="0" y="2202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703381" y="1110229"/>
            <a:ext cx="7876540" cy="1266262"/>
            <a:chOff x="0" y="0"/>
            <a:chExt cx="10502054" cy="16883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02054" cy="1688349"/>
            </a:xfrm>
            <a:custGeom>
              <a:avLst/>
              <a:gdLst/>
              <a:ahLst/>
              <a:cxnLst/>
              <a:rect r="r" b="b" t="t" l="l"/>
              <a:pathLst>
                <a:path h="1688349" w="10502054">
                  <a:moveTo>
                    <a:pt x="0" y="0"/>
                  </a:moveTo>
                  <a:lnTo>
                    <a:pt x="10502054" y="0"/>
                  </a:lnTo>
                  <a:lnTo>
                    <a:pt x="10502054" y="1688349"/>
                  </a:lnTo>
                  <a:lnTo>
                    <a:pt x="0" y="1688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0502054" cy="168834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20"/>
                </a:lnSpc>
              </a:pPr>
              <a:r>
                <a:rPr lang="en-US" sz="6100" spc="-79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Les  exigences  techniques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8549" y="133648"/>
            <a:ext cx="4618990" cy="1609725"/>
          </a:xfrm>
          <a:custGeom>
            <a:avLst/>
            <a:gdLst/>
            <a:ahLst/>
            <a:cxnLst/>
            <a:rect r="r" b="b" t="t" l="l"/>
            <a:pathLst>
              <a:path h="1609725" w="4618990">
                <a:moveTo>
                  <a:pt x="0" y="0"/>
                </a:moveTo>
                <a:lnTo>
                  <a:pt x="4618990" y="0"/>
                </a:lnTo>
                <a:lnTo>
                  <a:pt x="4618990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223617" y="384414"/>
            <a:ext cx="833755" cy="1021461"/>
            <a:chOff x="0" y="0"/>
            <a:chExt cx="1111673" cy="13619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70">
                  <a:solidFill>
                    <a:srgbClr val="EBEBEB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87761" y="3572010"/>
            <a:ext cx="6071235" cy="3347571"/>
            <a:chOff x="0" y="0"/>
            <a:chExt cx="8094980" cy="44634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94980" cy="4463428"/>
            </a:xfrm>
            <a:custGeom>
              <a:avLst/>
              <a:gdLst/>
              <a:ahLst/>
              <a:cxnLst/>
              <a:rect r="r" b="b" t="t" l="l"/>
              <a:pathLst>
                <a:path h="4463428" w="8094980">
                  <a:moveTo>
                    <a:pt x="0" y="0"/>
                  </a:moveTo>
                  <a:lnTo>
                    <a:pt x="8094980" y="0"/>
                  </a:lnTo>
                  <a:lnTo>
                    <a:pt x="8094980" y="4463428"/>
                  </a:lnTo>
                  <a:lnTo>
                    <a:pt x="0" y="4463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8094980" cy="45396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b="true" sz="4149">
                  <a:solidFill>
                    <a:srgbClr val="121B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A</a:t>
              </a:r>
              <a:r>
                <a:rPr lang="en-US" b="true" sz="4149" strike="noStrike" u="none">
                  <a:solidFill>
                    <a:srgbClr val="121B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rchitecture</a:t>
              </a:r>
            </a:p>
            <a:p>
              <a:pPr algn="l">
                <a:lnSpc>
                  <a:spcPts val="4979"/>
                </a:lnSpc>
                <a:spcBef>
                  <a:spcPct val="0"/>
                </a:spcBef>
              </a:pPr>
            </a:p>
            <a:p>
              <a:pPr algn="l">
                <a:lnSpc>
                  <a:spcPts val="4979"/>
                </a:lnSpc>
                <a:spcBef>
                  <a:spcPct val="0"/>
                </a:spcBef>
              </a:pPr>
            </a:p>
            <a:p>
              <a:pPr algn="l" marL="0" indent="0" lvl="1">
                <a:lnSpc>
                  <a:spcPts val="4979"/>
                </a:lnSpc>
                <a:spcBef>
                  <a:spcPct val="0"/>
                </a:spcBef>
              </a:pPr>
            </a:p>
            <a:p>
              <a:pPr algn="l" marL="0" indent="0" lvl="1">
                <a:lnSpc>
                  <a:spcPts val="4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107127" y="3572010"/>
            <a:ext cx="4551237" cy="2718976"/>
            <a:chOff x="0" y="0"/>
            <a:chExt cx="6068317" cy="36253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68316" cy="3625301"/>
            </a:xfrm>
            <a:custGeom>
              <a:avLst/>
              <a:gdLst/>
              <a:ahLst/>
              <a:cxnLst/>
              <a:rect r="r" b="b" t="t" l="l"/>
              <a:pathLst>
                <a:path h="3625301" w="6068316">
                  <a:moveTo>
                    <a:pt x="0" y="0"/>
                  </a:moveTo>
                  <a:lnTo>
                    <a:pt x="6068316" y="0"/>
                  </a:lnTo>
                  <a:lnTo>
                    <a:pt x="6068316" y="3625301"/>
                  </a:lnTo>
                  <a:lnTo>
                    <a:pt x="0" y="3625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6068317" cy="370150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979"/>
                </a:lnSpc>
              </a:pPr>
              <a:r>
                <a:rPr lang="en-US" b="true" sz="4149">
                  <a:solidFill>
                    <a:srgbClr val="121B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Do</a:t>
              </a:r>
              <a:r>
                <a:rPr lang="en-US" b="true" sz="4149">
                  <a:solidFill>
                    <a:srgbClr val="121B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nnées</a:t>
              </a:r>
            </a:p>
            <a:p>
              <a:pPr algn="ctr">
                <a:lnSpc>
                  <a:spcPts val="4979"/>
                </a:lnSpc>
              </a:pPr>
            </a:p>
            <a:p>
              <a:pPr algn="l">
                <a:lnSpc>
                  <a:spcPts val="4979"/>
                </a:lnSpc>
              </a:pPr>
            </a:p>
            <a:p>
              <a:pPr algn="l">
                <a:lnSpc>
                  <a:spcPts val="49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1325" y="4198360"/>
            <a:ext cx="5358730" cy="4694857"/>
            <a:chOff x="0" y="0"/>
            <a:chExt cx="7144973" cy="62598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44973" cy="6259809"/>
            </a:xfrm>
            <a:custGeom>
              <a:avLst/>
              <a:gdLst/>
              <a:ahLst/>
              <a:cxnLst/>
              <a:rect r="r" b="b" t="t" l="l"/>
              <a:pathLst>
                <a:path h="6259809" w="7144973">
                  <a:moveTo>
                    <a:pt x="0" y="0"/>
                  </a:moveTo>
                  <a:lnTo>
                    <a:pt x="7144973" y="0"/>
                  </a:lnTo>
                  <a:lnTo>
                    <a:pt x="7144973" y="6259809"/>
                  </a:lnTo>
                  <a:lnTo>
                    <a:pt x="0" y="62598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7144973" cy="637411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26114" indent="-313057" lvl="1">
                <a:lnSpc>
                  <a:spcPts val="4091"/>
                </a:lnSpc>
                <a:buFont typeface="Arial"/>
                <a:buChar char="•"/>
              </a:pP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Système de session</a:t>
              </a: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 sécurisées</a:t>
              </a:r>
            </a:p>
            <a:p>
              <a:pPr algn="l" marL="626114" indent="-313057" lvl="1">
                <a:lnSpc>
                  <a:spcPts val="4091"/>
                </a:lnSpc>
                <a:buFont typeface="Arial"/>
                <a:buChar char="•"/>
              </a:pP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Protection CSRF (Cross-Site Request Forgery)</a:t>
              </a:r>
            </a:p>
            <a:p>
              <a:pPr algn="l" marL="626114" indent="-313057" lvl="1">
                <a:lnSpc>
                  <a:spcPts val="4091"/>
                </a:lnSpc>
                <a:buFont typeface="Arial"/>
                <a:buChar char="•"/>
              </a:pP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Validation des formulaires</a:t>
              </a:r>
            </a:p>
            <a:p>
              <a:pPr algn="l" marL="626114" indent="-313057" lvl="1">
                <a:lnSpc>
                  <a:spcPts val="4091"/>
                </a:lnSpc>
                <a:buFont typeface="Arial"/>
                <a:buChar char="•"/>
              </a:pP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G</a:t>
              </a: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estion des rôles (admin/utilisateur)</a:t>
              </a:r>
            </a:p>
            <a:p>
              <a:pPr algn="l">
                <a:lnSpc>
                  <a:spcPts val="4091"/>
                </a:lnSpc>
              </a:pPr>
            </a:p>
            <a:p>
              <a:pPr algn="l">
                <a:lnSpc>
                  <a:spcPts val="4092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31562" y="4333956"/>
            <a:ext cx="5727738" cy="4697103"/>
            <a:chOff x="0" y="0"/>
            <a:chExt cx="7636984" cy="62628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36984" cy="6262805"/>
            </a:xfrm>
            <a:custGeom>
              <a:avLst/>
              <a:gdLst/>
              <a:ahLst/>
              <a:cxnLst/>
              <a:rect r="r" b="b" t="t" l="l"/>
              <a:pathLst>
                <a:path h="6262805" w="7636984">
                  <a:moveTo>
                    <a:pt x="0" y="0"/>
                  </a:moveTo>
                  <a:lnTo>
                    <a:pt x="7636984" y="0"/>
                  </a:lnTo>
                  <a:lnTo>
                    <a:pt x="7636984" y="6262805"/>
                  </a:lnTo>
                  <a:lnTo>
                    <a:pt x="0" y="6262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14300"/>
              <a:ext cx="7636984" cy="637710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74"/>
                </a:lnSpc>
              </a:pPr>
              <a:r>
                <a:rPr lang="en-US" sz="2900" spc="-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  <a:r>
                <a:rPr lang="en-US" sz="2900" spc="-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tructure MVC</a:t>
              </a:r>
            </a:p>
            <a:p>
              <a:pPr algn="l" marL="626111" indent="-313055" lvl="1">
                <a:lnSpc>
                  <a:spcPts val="4074"/>
                </a:lnSpc>
                <a:buFont typeface="Arial"/>
                <a:buChar char="•"/>
              </a:pPr>
              <a:r>
                <a:rPr lang="en-US" sz="2900" spc="-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Modèles (Models)</a:t>
              </a:r>
            </a:p>
            <a:p>
              <a:pPr algn="l" marL="626111" indent="-313055" lvl="1">
                <a:lnSpc>
                  <a:spcPts val="4074"/>
                </a:lnSpc>
                <a:buFont typeface="Arial"/>
                <a:buChar char="•"/>
              </a:pPr>
              <a:r>
                <a:rPr lang="en-US" sz="2900" spc="-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Vues (Views)</a:t>
              </a:r>
            </a:p>
            <a:p>
              <a:pPr algn="l" marL="626111" indent="-313055" lvl="1">
                <a:lnSpc>
                  <a:spcPts val="4074"/>
                </a:lnSpc>
                <a:buFont typeface="Arial"/>
                <a:buChar char="•"/>
              </a:pPr>
              <a:r>
                <a:rPr lang="en-US" sz="2900" spc="-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Contrôleurs (Controllers)</a:t>
              </a:r>
            </a:p>
            <a:p>
              <a:pPr algn="l">
                <a:lnSpc>
                  <a:spcPts val="4074"/>
                </a:lnSpc>
              </a:pPr>
              <a:r>
                <a:rPr lang="en-US" sz="2900" spc="-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Organi</a:t>
              </a:r>
              <a:r>
                <a:rPr lang="en-US" sz="2900" spc="-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sation modulaire</a:t>
              </a:r>
            </a:p>
            <a:p>
              <a:pPr algn="l" marL="626111" indent="-313055" lvl="1">
                <a:lnSpc>
                  <a:spcPts val="4074"/>
                </a:lnSpc>
                <a:buFont typeface="Arial"/>
                <a:buChar char="•"/>
              </a:pPr>
              <a:r>
                <a:rPr lang="en-US" sz="2900" spc="-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Séparation des responsabilités</a:t>
              </a:r>
            </a:p>
            <a:p>
              <a:pPr algn="l" marL="626111" indent="-313055" lvl="1">
                <a:lnSpc>
                  <a:spcPts val="4074"/>
                </a:lnSpc>
                <a:buFont typeface="Arial"/>
                <a:buChar char="•"/>
              </a:pPr>
              <a:r>
                <a:rPr lang="en-US" sz="2900" spc="-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réutilisable</a:t>
              </a:r>
            </a:p>
            <a:p>
              <a:pPr algn="l" marL="626111" indent="-313055" lvl="1">
                <a:lnSpc>
                  <a:spcPts val="4075"/>
                </a:lnSpc>
                <a:buFont typeface="Arial"/>
                <a:buChar char="•"/>
              </a:pPr>
              <a:r>
                <a:rPr lang="en-US" sz="2900" spc="-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Maintenance facilitée</a:t>
              </a:r>
            </a:p>
            <a:p>
              <a:pPr algn="l">
                <a:lnSpc>
                  <a:spcPts val="407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703381" y="4333956"/>
            <a:ext cx="5358730" cy="2463800"/>
            <a:chOff x="0" y="0"/>
            <a:chExt cx="7144973" cy="32850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44973" cy="3285067"/>
            </a:xfrm>
            <a:custGeom>
              <a:avLst/>
              <a:gdLst/>
              <a:ahLst/>
              <a:cxnLst/>
              <a:rect r="r" b="b" t="t" l="l"/>
              <a:pathLst>
                <a:path h="3285067" w="7144973">
                  <a:moveTo>
                    <a:pt x="0" y="0"/>
                  </a:moveTo>
                  <a:lnTo>
                    <a:pt x="7144973" y="0"/>
                  </a:lnTo>
                  <a:lnTo>
                    <a:pt x="7144973" y="3285067"/>
                  </a:lnTo>
                  <a:lnTo>
                    <a:pt x="0" y="32850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7144973" cy="339936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26114" indent="-313057" lvl="1">
                <a:lnSpc>
                  <a:spcPts val="4091"/>
                </a:lnSpc>
                <a:buFont typeface="Arial"/>
                <a:buChar char="•"/>
              </a:pP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Connex</a:t>
              </a: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ion sécurisée</a:t>
              </a:r>
            </a:p>
            <a:p>
              <a:pPr algn="l" marL="626114" indent="-313057" lvl="1">
                <a:lnSpc>
                  <a:spcPts val="4091"/>
                </a:lnSpc>
                <a:buFont typeface="Arial"/>
                <a:buChar char="•"/>
              </a:pP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Requêtes préparées</a:t>
              </a:r>
            </a:p>
            <a:p>
              <a:pPr algn="l" marL="626114" indent="-313057" lvl="1">
                <a:lnSpc>
                  <a:spcPts val="4091"/>
                </a:lnSpc>
                <a:buFont typeface="Arial"/>
                <a:buChar char="•"/>
              </a:pPr>
              <a:r>
                <a:rPr lang="en-US" sz="2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Gestion des erreurs</a:t>
              </a:r>
            </a:p>
            <a:p>
              <a:pPr algn="l">
                <a:lnSpc>
                  <a:spcPts val="4092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1489" y="3315300"/>
            <a:ext cx="5501091" cy="2090380"/>
            <a:chOff x="0" y="0"/>
            <a:chExt cx="7334788" cy="27871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34788" cy="2787173"/>
            </a:xfrm>
            <a:custGeom>
              <a:avLst/>
              <a:gdLst/>
              <a:ahLst/>
              <a:cxnLst/>
              <a:rect r="r" b="b" t="t" l="l"/>
              <a:pathLst>
                <a:path h="2787173" w="7334788">
                  <a:moveTo>
                    <a:pt x="0" y="0"/>
                  </a:moveTo>
                  <a:lnTo>
                    <a:pt x="7334788" y="0"/>
                  </a:lnTo>
                  <a:lnTo>
                    <a:pt x="7334788" y="2787173"/>
                  </a:lnTo>
                  <a:lnTo>
                    <a:pt x="0" y="2787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7334788" cy="28633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979"/>
                </a:lnSpc>
              </a:pPr>
              <a:r>
                <a:rPr lang="en-US" sz="4149" spc="-8" b="true">
                  <a:solidFill>
                    <a:srgbClr val="9EC2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🔐 </a:t>
              </a:r>
              <a:r>
                <a:rPr lang="en-US" sz="4149" spc="-8" b="true">
                  <a:solidFill>
                    <a:srgbClr val="9EC2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 Authentification</a:t>
              </a:r>
            </a:p>
            <a:p>
              <a:pPr algn="l">
                <a:lnSpc>
                  <a:spcPts val="49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20689"/>
            <a:ext cx="6672580" cy="132715"/>
            <a:chOff x="0" y="0"/>
            <a:chExt cx="8896773" cy="1769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6223" cy="176276"/>
            </a:xfrm>
            <a:custGeom>
              <a:avLst/>
              <a:gdLst/>
              <a:ahLst/>
              <a:cxnLst/>
              <a:rect r="r" b="b" t="t" l="l"/>
              <a:pathLst>
                <a:path h="176276" w="8896223">
                  <a:moveTo>
                    <a:pt x="8895715" y="176276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8896223" y="23876"/>
                  </a:lnTo>
                  <a:lnTo>
                    <a:pt x="8895842" y="176276"/>
                  </a:lnTo>
                  <a:close/>
                </a:path>
              </a:pathLst>
            </a:custGeom>
            <a:solidFill>
              <a:srgbClr val="0F4F4E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654181" y="8019408"/>
            <a:ext cx="5504815" cy="2202180"/>
          </a:xfrm>
          <a:custGeom>
            <a:avLst/>
            <a:gdLst/>
            <a:ahLst/>
            <a:cxnLst/>
            <a:rect r="r" b="b" t="t" l="l"/>
            <a:pathLst>
              <a:path h="2202180" w="5504815">
                <a:moveTo>
                  <a:pt x="0" y="0"/>
                </a:moveTo>
                <a:lnTo>
                  <a:pt x="5504815" y="0"/>
                </a:lnTo>
                <a:lnTo>
                  <a:pt x="5504815" y="2202180"/>
                </a:lnTo>
                <a:lnTo>
                  <a:pt x="0" y="2202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272530" y="1040081"/>
            <a:ext cx="7426768" cy="1266262"/>
            <a:chOff x="0" y="0"/>
            <a:chExt cx="9902357" cy="16883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02357" cy="1688349"/>
            </a:xfrm>
            <a:custGeom>
              <a:avLst/>
              <a:gdLst/>
              <a:ahLst/>
              <a:cxnLst/>
              <a:rect r="r" b="b" t="t" l="l"/>
              <a:pathLst>
                <a:path h="1688349" w="9902357">
                  <a:moveTo>
                    <a:pt x="0" y="0"/>
                  </a:moveTo>
                  <a:lnTo>
                    <a:pt x="9902357" y="0"/>
                  </a:lnTo>
                  <a:lnTo>
                    <a:pt x="9902357" y="1688349"/>
                  </a:lnTo>
                  <a:lnTo>
                    <a:pt x="0" y="16883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9902357" cy="168834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20"/>
                </a:lnSpc>
              </a:pPr>
              <a:r>
                <a:rPr lang="en-US" sz="6100" spc="-79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Exigences Fonctionnelles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8549" y="133648"/>
            <a:ext cx="4618990" cy="1609725"/>
          </a:xfrm>
          <a:custGeom>
            <a:avLst/>
            <a:gdLst/>
            <a:ahLst/>
            <a:cxnLst/>
            <a:rect r="r" b="b" t="t" l="l"/>
            <a:pathLst>
              <a:path h="1609725" w="4618990">
                <a:moveTo>
                  <a:pt x="0" y="0"/>
                </a:moveTo>
                <a:lnTo>
                  <a:pt x="4618990" y="0"/>
                </a:lnTo>
                <a:lnTo>
                  <a:pt x="4618990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223617" y="384414"/>
            <a:ext cx="833755" cy="1021461"/>
            <a:chOff x="0" y="0"/>
            <a:chExt cx="1111673" cy="13619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70">
                  <a:solidFill>
                    <a:srgbClr val="EBEBEB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71096" y="3282776"/>
            <a:ext cx="4070985" cy="2718976"/>
            <a:chOff x="0" y="0"/>
            <a:chExt cx="5427980" cy="3625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27980" cy="3625301"/>
            </a:xfrm>
            <a:custGeom>
              <a:avLst/>
              <a:gdLst/>
              <a:ahLst/>
              <a:cxnLst/>
              <a:rect r="r" b="b" t="t" l="l"/>
              <a:pathLst>
                <a:path h="3625301" w="5427980">
                  <a:moveTo>
                    <a:pt x="0" y="0"/>
                  </a:moveTo>
                  <a:lnTo>
                    <a:pt x="5427980" y="0"/>
                  </a:lnTo>
                  <a:lnTo>
                    <a:pt x="5427980" y="3625301"/>
                  </a:lnTo>
                  <a:lnTo>
                    <a:pt x="0" y="3625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5427980" cy="370150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979"/>
                </a:lnSpc>
              </a:pPr>
              <a:r>
                <a:rPr lang="en-US" sz="4149" b="true">
                  <a:solidFill>
                    <a:srgbClr val="612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🛠 </a:t>
              </a:r>
              <a:r>
                <a:rPr lang="en-US" sz="4149" b="true">
                  <a:solidFill>
                    <a:srgbClr val="612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 Administrateur</a:t>
              </a:r>
            </a:p>
            <a:p>
              <a:pPr algn="l">
                <a:lnSpc>
                  <a:spcPts val="4979"/>
                </a:lnSpc>
              </a:pPr>
            </a:p>
            <a:p>
              <a:pPr algn="l">
                <a:lnSpc>
                  <a:spcPts val="49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72580" y="3315300"/>
            <a:ext cx="4551237" cy="2718976"/>
            <a:chOff x="0" y="0"/>
            <a:chExt cx="6068317" cy="36253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68316" cy="3625301"/>
            </a:xfrm>
            <a:custGeom>
              <a:avLst/>
              <a:gdLst/>
              <a:ahLst/>
              <a:cxnLst/>
              <a:rect r="r" b="b" t="t" l="l"/>
              <a:pathLst>
                <a:path h="3625301" w="6068316">
                  <a:moveTo>
                    <a:pt x="0" y="0"/>
                  </a:moveTo>
                  <a:lnTo>
                    <a:pt x="6068316" y="0"/>
                  </a:lnTo>
                  <a:lnTo>
                    <a:pt x="6068316" y="3625301"/>
                  </a:lnTo>
                  <a:lnTo>
                    <a:pt x="0" y="3625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6068317" cy="370150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979"/>
                </a:lnSpc>
              </a:pPr>
              <a:r>
                <a:rPr lang="en-US" sz="4149" b="true">
                  <a:solidFill>
                    <a:srgbClr val="0F4F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📘</a:t>
              </a:r>
              <a:r>
                <a:rPr lang="en-US" sz="4149" b="true">
                  <a:solidFill>
                    <a:srgbClr val="0F4F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  Étudiant</a:t>
              </a:r>
            </a:p>
            <a:p>
              <a:pPr algn="l">
                <a:lnSpc>
                  <a:spcPts val="4979"/>
                </a:lnSpc>
              </a:pPr>
            </a:p>
            <a:p>
              <a:pPr algn="l">
                <a:lnSpc>
                  <a:spcPts val="49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4652" y="4674788"/>
            <a:ext cx="5358730" cy="4412588"/>
            <a:chOff x="0" y="0"/>
            <a:chExt cx="7144973" cy="58834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44973" cy="5883451"/>
            </a:xfrm>
            <a:custGeom>
              <a:avLst/>
              <a:gdLst/>
              <a:ahLst/>
              <a:cxnLst/>
              <a:rect r="r" b="b" t="t" l="l"/>
              <a:pathLst>
                <a:path h="5883451" w="7144973">
                  <a:moveTo>
                    <a:pt x="0" y="0"/>
                  </a:moveTo>
                  <a:lnTo>
                    <a:pt x="7144973" y="0"/>
                  </a:lnTo>
                  <a:lnTo>
                    <a:pt x="7144973" y="5883451"/>
                  </a:lnTo>
                  <a:lnTo>
                    <a:pt x="0" y="5883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42875"/>
              <a:ext cx="7144973" cy="602632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755651" indent="-377825" lvl="1">
                <a:lnSpc>
                  <a:spcPts val="4938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</a:t>
              </a: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scription avec vérification par email</a:t>
              </a:r>
            </a:p>
            <a:p>
              <a:pPr algn="l" marL="755651" indent="-377825" lvl="1">
                <a:lnSpc>
                  <a:spcPts val="4938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Connexion sécurisée</a:t>
              </a:r>
            </a:p>
            <a:p>
              <a:pPr algn="l" marL="755651" indent="-377825" lvl="1">
                <a:lnSpc>
                  <a:spcPts val="4938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Réinitialisation du mot de passe</a:t>
              </a:r>
            </a:p>
            <a:p>
              <a:pPr algn="l" marL="755651" indent="-377825" lvl="1">
                <a:lnSpc>
                  <a:spcPts val="4938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de compte</a:t>
              </a:r>
            </a:p>
            <a:p>
              <a:pPr algn="l">
                <a:lnSpc>
                  <a:spcPts val="493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14119" y="4642263"/>
            <a:ext cx="5727738" cy="5034425"/>
            <a:chOff x="0" y="0"/>
            <a:chExt cx="7636984" cy="67125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36984" cy="6712567"/>
            </a:xfrm>
            <a:custGeom>
              <a:avLst/>
              <a:gdLst/>
              <a:ahLst/>
              <a:cxnLst/>
              <a:rect r="r" b="b" t="t" l="l"/>
              <a:pathLst>
                <a:path h="6712567" w="7636984">
                  <a:moveTo>
                    <a:pt x="0" y="0"/>
                  </a:moveTo>
                  <a:lnTo>
                    <a:pt x="7636984" y="0"/>
                  </a:lnTo>
                  <a:lnTo>
                    <a:pt x="7636984" y="6712567"/>
                  </a:lnTo>
                  <a:lnTo>
                    <a:pt x="0" y="67125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42875"/>
              <a:ext cx="7636984" cy="685544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755651" indent="-377825" lvl="1">
                <a:lnSpc>
                  <a:spcPts val="4917"/>
                </a:lnSpc>
                <a:buFont typeface="Arial"/>
                <a:buChar char="•"/>
              </a:pPr>
              <a:r>
                <a:rPr lang="en-US" sz="3500" spc="-1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</a:t>
              </a:r>
              <a:r>
                <a:rPr lang="en-US" sz="3500" spc="-1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stion des utilisateurs (étudiants)</a:t>
              </a:r>
            </a:p>
            <a:p>
              <a:pPr algn="l" marL="755651" indent="-377825" lvl="1">
                <a:lnSpc>
                  <a:spcPts val="4917"/>
                </a:lnSpc>
                <a:buFont typeface="Arial"/>
                <a:buChar char="•"/>
              </a:pPr>
              <a:r>
                <a:rPr lang="en-US" sz="3500" spc="-1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 des livres (ajout, modification, suppression)</a:t>
              </a:r>
            </a:p>
            <a:p>
              <a:pPr algn="l" marL="755651" indent="-377825" lvl="1">
                <a:lnSpc>
                  <a:spcPts val="4917"/>
                </a:lnSpc>
                <a:buFont typeface="Arial"/>
                <a:buChar char="•"/>
              </a:pPr>
              <a:r>
                <a:rPr lang="en-US" sz="3500" spc="-1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Suivi des réservations</a:t>
              </a:r>
            </a:p>
            <a:p>
              <a:pPr algn="l" marL="755651" indent="-377825" lvl="1">
                <a:lnSpc>
                  <a:spcPts val="4918"/>
                </a:lnSpc>
                <a:buFont typeface="Arial"/>
                <a:buChar char="•"/>
              </a:pPr>
              <a:r>
                <a:rPr lang="en-US" sz="3500" spc="-1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 des réclamations et notifications</a:t>
              </a:r>
            </a:p>
            <a:p>
              <a:pPr algn="l">
                <a:lnSpc>
                  <a:spcPts val="491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64635" y="4642263"/>
            <a:ext cx="5358730" cy="4412588"/>
            <a:chOff x="0" y="0"/>
            <a:chExt cx="7144973" cy="58834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44973" cy="5883451"/>
            </a:xfrm>
            <a:custGeom>
              <a:avLst/>
              <a:gdLst/>
              <a:ahLst/>
              <a:cxnLst/>
              <a:rect r="r" b="b" t="t" l="l"/>
              <a:pathLst>
                <a:path h="5883451" w="7144973">
                  <a:moveTo>
                    <a:pt x="0" y="0"/>
                  </a:moveTo>
                  <a:lnTo>
                    <a:pt x="7144973" y="0"/>
                  </a:lnTo>
                  <a:lnTo>
                    <a:pt x="7144973" y="5883451"/>
                  </a:lnTo>
                  <a:lnTo>
                    <a:pt x="0" y="5883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42875"/>
              <a:ext cx="7144973" cy="602632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755651" indent="-377825" lvl="1">
                <a:lnSpc>
                  <a:spcPts val="4938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</a:t>
              </a: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 un livre</a:t>
              </a:r>
            </a:p>
            <a:p>
              <a:pPr algn="l" marL="755651" indent="-377825" lvl="1">
                <a:lnSpc>
                  <a:spcPts val="4938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Consulter l’historique de réservation</a:t>
              </a:r>
            </a:p>
            <a:p>
              <a:pPr algn="l" marL="755651" indent="-377825" lvl="1">
                <a:lnSpc>
                  <a:spcPts val="4938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Modifier son profil</a:t>
              </a:r>
            </a:p>
            <a:p>
              <a:pPr algn="l" marL="755651" indent="-377825" lvl="1">
                <a:lnSpc>
                  <a:spcPts val="4938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Envoyer une réclamation à l’administration</a:t>
              </a:r>
            </a:p>
            <a:p>
              <a:pPr algn="l">
                <a:lnSpc>
                  <a:spcPts val="493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06346" y="8819967"/>
            <a:ext cx="1675130" cy="561101"/>
            <a:chOff x="0" y="0"/>
            <a:chExt cx="2233507" cy="7481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3507" cy="748134"/>
            </a:xfrm>
            <a:custGeom>
              <a:avLst/>
              <a:gdLst/>
              <a:ahLst/>
              <a:cxnLst/>
              <a:rect r="r" b="b" t="t" l="l"/>
              <a:pathLst>
                <a:path h="748134" w="2233507">
                  <a:moveTo>
                    <a:pt x="0" y="0"/>
                  </a:moveTo>
                  <a:lnTo>
                    <a:pt x="2233507" y="0"/>
                  </a:lnTo>
                  <a:lnTo>
                    <a:pt x="2233507" y="748134"/>
                  </a:lnTo>
                  <a:lnTo>
                    <a:pt x="0" y="748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33507" cy="7576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spc="-32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FRONT END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004815"/>
            <a:ext cx="6845300" cy="132715"/>
            <a:chOff x="0" y="0"/>
            <a:chExt cx="9127067" cy="1769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26474" cy="176911"/>
            </a:xfrm>
            <a:custGeom>
              <a:avLst/>
              <a:gdLst/>
              <a:ahLst/>
              <a:cxnLst/>
              <a:rect r="r" b="b" t="t" l="l"/>
              <a:pathLst>
                <a:path h="176911" w="9126474">
                  <a:moveTo>
                    <a:pt x="9125966" y="176911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9126474" y="24511"/>
                  </a:lnTo>
                  <a:lnTo>
                    <a:pt x="9126093" y="176911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30015" y="9004117"/>
            <a:ext cx="6858000" cy="132715"/>
            <a:chOff x="0" y="0"/>
            <a:chExt cx="9144000" cy="1769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0" cy="176911"/>
            </a:xfrm>
            <a:custGeom>
              <a:avLst/>
              <a:gdLst/>
              <a:ahLst/>
              <a:cxnLst/>
              <a:rect r="r" b="b" t="t" l="l"/>
              <a:pathLst>
                <a:path h="176911" w="9144000">
                  <a:moveTo>
                    <a:pt x="9144000" y="176911"/>
                  </a:moveTo>
                  <a:lnTo>
                    <a:pt x="0" y="152400"/>
                  </a:lnTo>
                  <a:lnTo>
                    <a:pt x="381" y="0"/>
                  </a:lnTo>
                  <a:lnTo>
                    <a:pt x="9144000" y="24511"/>
                  </a:lnTo>
                  <a:lnTo>
                    <a:pt x="9144000" y="176911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7069" y="2699192"/>
            <a:ext cx="5961304" cy="5961280"/>
          </a:xfrm>
          <a:custGeom>
            <a:avLst/>
            <a:gdLst/>
            <a:ahLst/>
            <a:cxnLst/>
            <a:rect r="r" b="b" t="t" l="l"/>
            <a:pathLst>
              <a:path h="5961280" w="5961304">
                <a:moveTo>
                  <a:pt x="0" y="0"/>
                </a:moveTo>
                <a:lnTo>
                  <a:pt x="5961304" y="0"/>
                </a:lnTo>
                <a:lnTo>
                  <a:pt x="5961304" y="5961280"/>
                </a:lnTo>
                <a:lnTo>
                  <a:pt x="0" y="596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223617" y="384414"/>
            <a:ext cx="833755" cy="1021461"/>
            <a:chOff x="0" y="0"/>
            <a:chExt cx="1111673" cy="13619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7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54086" y="957778"/>
            <a:ext cx="5630545" cy="1904099"/>
            <a:chOff x="0" y="0"/>
            <a:chExt cx="7507393" cy="25387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07394" cy="2538799"/>
            </a:xfrm>
            <a:custGeom>
              <a:avLst/>
              <a:gdLst/>
              <a:ahLst/>
              <a:cxnLst/>
              <a:rect r="r" b="b" t="t" l="l"/>
              <a:pathLst>
                <a:path h="2538799" w="7507394">
                  <a:moveTo>
                    <a:pt x="0" y="0"/>
                  </a:moveTo>
                  <a:lnTo>
                    <a:pt x="7507394" y="0"/>
                  </a:lnTo>
                  <a:lnTo>
                    <a:pt x="7507394" y="2538799"/>
                  </a:lnTo>
                  <a:lnTo>
                    <a:pt x="0" y="25387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507393" cy="253879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0980"/>
                </a:lnSpc>
              </a:pPr>
              <a:r>
                <a:rPr lang="en-US" sz="9150" spc="-108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FRONT END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982936" y="6397251"/>
            <a:ext cx="3305175" cy="2456815"/>
          </a:xfrm>
          <a:custGeom>
            <a:avLst/>
            <a:gdLst/>
            <a:ahLst/>
            <a:cxnLst/>
            <a:rect r="r" b="b" t="t" l="l"/>
            <a:pathLst>
              <a:path h="2456815" w="3305175">
                <a:moveTo>
                  <a:pt x="0" y="0"/>
                </a:moveTo>
                <a:lnTo>
                  <a:pt x="3305175" y="0"/>
                </a:lnTo>
                <a:lnTo>
                  <a:pt x="3305175" y="2456815"/>
                </a:lnTo>
                <a:lnTo>
                  <a:pt x="0" y="24568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272" y="165047"/>
            <a:ext cx="5518150" cy="1909445"/>
          </a:xfrm>
          <a:custGeom>
            <a:avLst/>
            <a:gdLst/>
            <a:ahLst/>
            <a:cxnLst/>
            <a:rect r="r" b="b" t="t" l="l"/>
            <a:pathLst>
              <a:path h="1909445" w="5518150">
                <a:moveTo>
                  <a:pt x="0" y="0"/>
                </a:moveTo>
                <a:lnTo>
                  <a:pt x="5518150" y="0"/>
                </a:lnTo>
                <a:lnTo>
                  <a:pt x="5518150" y="1909445"/>
                </a:lnTo>
                <a:lnTo>
                  <a:pt x="0" y="19094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850762" y="3126421"/>
            <a:ext cx="11228069" cy="5322870"/>
            <a:chOff x="0" y="0"/>
            <a:chExt cx="14970759" cy="7097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970759" cy="7097160"/>
            </a:xfrm>
            <a:custGeom>
              <a:avLst/>
              <a:gdLst/>
              <a:ahLst/>
              <a:cxnLst/>
              <a:rect r="r" b="b" t="t" l="l"/>
              <a:pathLst>
                <a:path h="7097160" w="14970759">
                  <a:moveTo>
                    <a:pt x="0" y="0"/>
                  </a:moveTo>
                  <a:lnTo>
                    <a:pt x="14970759" y="0"/>
                  </a:lnTo>
                  <a:lnTo>
                    <a:pt x="14970759" y="7097160"/>
                  </a:lnTo>
                  <a:lnTo>
                    <a:pt x="0" y="70971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14970759" cy="717336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851"/>
                </a:lnSpc>
              </a:pPr>
              <a:r>
                <a:rPr lang="en-US" sz="4150" spc="-22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  <a:hlinkClick r:id="rId9" tooltip="https://www.canva.com/design/DAGGoy0rypU/3vs3V5x8dninwmC8sh6Rig/edit?utm_content=DAGGoy0rypU&amp;utm_campaign=designshare&amp;utm_medium=link2&amp;utm_source=sharebutton"/>
                </a:rPr>
                <a:t>Dans le développement de notre projet, nous avons utilisé trois technologies front-end principales : HTML, CSS et Bootstrap. Ces outils nous ont permis de concevoir une interface utilisateur claire, responsive et facile à utiliser, adaptée aussi bien aux étudiants qu’à l’administrateur.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25132" y="962056"/>
            <a:ext cx="5219065" cy="1772425"/>
            <a:chOff x="0" y="0"/>
            <a:chExt cx="6958753" cy="23632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8754" cy="2363234"/>
            </a:xfrm>
            <a:custGeom>
              <a:avLst/>
              <a:gdLst/>
              <a:ahLst/>
              <a:cxnLst/>
              <a:rect r="r" b="b" t="t" l="l"/>
              <a:pathLst>
                <a:path h="2363234" w="6958754">
                  <a:moveTo>
                    <a:pt x="0" y="0"/>
                  </a:moveTo>
                  <a:lnTo>
                    <a:pt x="6958754" y="0"/>
                  </a:lnTo>
                  <a:lnTo>
                    <a:pt x="6958754" y="2363234"/>
                  </a:lnTo>
                  <a:lnTo>
                    <a:pt x="0" y="2363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958753" cy="23727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0200"/>
                </a:lnSpc>
              </a:pPr>
              <a:r>
                <a:rPr lang="en-US" sz="8500" spc="-101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FRONT END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06346" y="8819967"/>
            <a:ext cx="1675130" cy="561101"/>
            <a:chOff x="0" y="0"/>
            <a:chExt cx="2233507" cy="7481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3507" cy="748134"/>
            </a:xfrm>
            <a:custGeom>
              <a:avLst/>
              <a:gdLst/>
              <a:ahLst/>
              <a:cxnLst/>
              <a:rect r="r" b="b" t="t" l="l"/>
              <a:pathLst>
                <a:path h="748134" w="2233507">
                  <a:moveTo>
                    <a:pt x="0" y="0"/>
                  </a:moveTo>
                  <a:lnTo>
                    <a:pt x="2233507" y="0"/>
                  </a:lnTo>
                  <a:lnTo>
                    <a:pt x="2233507" y="748134"/>
                  </a:lnTo>
                  <a:lnTo>
                    <a:pt x="0" y="748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33507" cy="7576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spc="-32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FRONT END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004815"/>
            <a:ext cx="6845300" cy="132715"/>
            <a:chOff x="0" y="0"/>
            <a:chExt cx="9127067" cy="1769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6474" cy="176911"/>
            </a:xfrm>
            <a:custGeom>
              <a:avLst/>
              <a:gdLst/>
              <a:ahLst/>
              <a:cxnLst/>
              <a:rect r="r" b="b" t="t" l="l"/>
              <a:pathLst>
                <a:path h="176911" w="9126474">
                  <a:moveTo>
                    <a:pt x="9125966" y="176911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9126474" y="24511"/>
                  </a:lnTo>
                  <a:lnTo>
                    <a:pt x="9126093" y="176911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15" y="9004117"/>
            <a:ext cx="6858000" cy="132715"/>
            <a:chOff x="0" y="0"/>
            <a:chExt cx="9144000" cy="1769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176911"/>
            </a:xfrm>
            <a:custGeom>
              <a:avLst/>
              <a:gdLst/>
              <a:ahLst/>
              <a:cxnLst/>
              <a:rect r="r" b="b" t="t" l="l"/>
              <a:pathLst>
                <a:path h="176911" w="9144000">
                  <a:moveTo>
                    <a:pt x="9144000" y="176911"/>
                  </a:moveTo>
                  <a:lnTo>
                    <a:pt x="0" y="152400"/>
                  </a:lnTo>
                  <a:lnTo>
                    <a:pt x="381" y="0"/>
                  </a:lnTo>
                  <a:lnTo>
                    <a:pt x="9144000" y="24511"/>
                  </a:lnTo>
                  <a:lnTo>
                    <a:pt x="9144000" y="176911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77515" y="3319509"/>
            <a:ext cx="9413786" cy="5168056"/>
          </a:xfrm>
          <a:custGeom>
            <a:avLst/>
            <a:gdLst/>
            <a:ahLst/>
            <a:cxnLst/>
            <a:rect r="r" b="b" t="t" l="l"/>
            <a:pathLst>
              <a:path h="5168056" w="9413786">
                <a:moveTo>
                  <a:pt x="0" y="0"/>
                </a:moveTo>
                <a:lnTo>
                  <a:pt x="9413786" y="0"/>
                </a:lnTo>
                <a:lnTo>
                  <a:pt x="9413786" y="5168056"/>
                </a:lnTo>
                <a:lnTo>
                  <a:pt x="0" y="5168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08" t="-3308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223617" y="384414"/>
            <a:ext cx="833755" cy="1021461"/>
            <a:chOff x="0" y="0"/>
            <a:chExt cx="1111673" cy="13619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7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3621" y="165047"/>
            <a:ext cx="4918710" cy="1909445"/>
          </a:xfrm>
          <a:custGeom>
            <a:avLst/>
            <a:gdLst/>
            <a:ahLst/>
            <a:cxnLst/>
            <a:rect r="r" b="b" t="t" l="l"/>
            <a:pathLst>
              <a:path h="1909445" w="4918710">
                <a:moveTo>
                  <a:pt x="0" y="0"/>
                </a:moveTo>
                <a:lnTo>
                  <a:pt x="4918710" y="0"/>
                </a:lnTo>
                <a:lnTo>
                  <a:pt x="4918710" y="1909445"/>
                </a:lnTo>
                <a:lnTo>
                  <a:pt x="0" y="1909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97236" y="3504163"/>
            <a:ext cx="7644425" cy="5191575"/>
          </a:xfrm>
          <a:custGeom>
            <a:avLst/>
            <a:gdLst/>
            <a:ahLst/>
            <a:cxnLst/>
            <a:rect r="r" b="b" t="t" l="l"/>
            <a:pathLst>
              <a:path h="5191575" w="7644425">
                <a:moveTo>
                  <a:pt x="0" y="0"/>
                </a:moveTo>
                <a:lnTo>
                  <a:pt x="7644425" y="0"/>
                </a:lnTo>
                <a:lnTo>
                  <a:pt x="7644425" y="5191575"/>
                </a:lnTo>
                <a:lnTo>
                  <a:pt x="0" y="51915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48970" y="3541712"/>
            <a:ext cx="6196330" cy="3203575"/>
            <a:chOff x="0" y="0"/>
            <a:chExt cx="8261773" cy="42714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61773" cy="4271433"/>
            </a:xfrm>
            <a:custGeom>
              <a:avLst/>
              <a:gdLst/>
              <a:ahLst/>
              <a:cxnLst/>
              <a:rect r="r" b="b" t="t" l="l"/>
              <a:pathLst>
                <a:path h="4271433" w="8261773">
                  <a:moveTo>
                    <a:pt x="0" y="0"/>
                  </a:moveTo>
                  <a:lnTo>
                    <a:pt x="8261773" y="0"/>
                  </a:lnTo>
                  <a:lnTo>
                    <a:pt x="8261773" y="4271433"/>
                  </a:lnTo>
                  <a:lnTo>
                    <a:pt x="0" y="4271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261773" cy="42714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spc="-447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HTML</a:t>
              </a:r>
            </a:p>
            <a:p>
              <a:pPr algn="l">
                <a:lnSpc>
                  <a:spcPts val="4370"/>
                </a:lnSpc>
              </a:pPr>
            </a:p>
            <a:p>
              <a:pPr algn="l">
                <a:lnSpc>
                  <a:spcPts val="3454"/>
                </a:lnSpc>
              </a:pPr>
              <a:r>
                <a:rPr lang="en-US" sz="2450" spc="-16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U</a:t>
              </a:r>
              <a:r>
                <a:rPr lang="en-US" sz="2450" spc="-16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tilisé pour structurer les pages (formulaires, tableaux, tableaux de bord, etc.).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34665" y="3319509"/>
            <a:ext cx="6646345" cy="3387548"/>
            <a:chOff x="0" y="0"/>
            <a:chExt cx="8834967" cy="45030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34967" cy="4503058"/>
            </a:xfrm>
            <a:custGeom>
              <a:avLst/>
              <a:gdLst/>
              <a:ahLst/>
              <a:cxnLst/>
              <a:rect r="r" b="b" t="t" l="l"/>
              <a:pathLst>
                <a:path h="4503058" w="8834967">
                  <a:moveTo>
                    <a:pt x="0" y="0"/>
                  </a:moveTo>
                  <a:lnTo>
                    <a:pt x="8834967" y="0"/>
                  </a:lnTo>
                  <a:lnTo>
                    <a:pt x="8834967" y="4503058"/>
                  </a:lnTo>
                  <a:lnTo>
                    <a:pt x="0" y="45030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834967" cy="45125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spc="-11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CSS</a:t>
              </a:r>
            </a:p>
            <a:p>
              <a:pPr algn="l">
                <a:lnSpc>
                  <a:spcPts val="3454"/>
                </a:lnSpc>
              </a:pPr>
              <a:r>
                <a:rPr lang="en-US" sz="2450" spc="-7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Nous avons utilisé du CSS personnalisé pour adapter l'apparence des pages, ajuster les couleurs, les marges et améliorer l’ergonomie de l’interface.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31358" y="962056"/>
            <a:ext cx="5219065" cy="1772425"/>
            <a:chOff x="0" y="0"/>
            <a:chExt cx="6958753" cy="23632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8754" cy="2363234"/>
            </a:xfrm>
            <a:custGeom>
              <a:avLst/>
              <a:gdLst/>
              <a:ahLst/>
              <a:cxnLst/>
              <a:rect r="r" b="b" t="t" l="l"/>
              <a:pathLst>
                <a:path h="2363234" w="6958754">
                  <a:moveTo>
                    <a:pt x="0" y="0"/>
                  </a:moveTo>
                  <a:lnTo>
                    <a:pt x="6958754" y="0"/>
                  </a:lnTo>
                  <a:lnTo>
                    <a:pt x="6958754" y="2363234"/>
                  </a:lnTo>
                  <a:lnTo>
                    <a:pt x="0" y="2363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958753" cy="23727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0200"/>
                </a:lnSpc>
              </a:pPr>
              <a:r>
                <a:rPr lang="en-US" sz="8500" spc="-101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FRONT END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89839" y="8819967"/>
            <a:ext cx="1508125" cy="561101"/>
            <a:chOff x="0" y="0"/>
            <a:chExt cx="2010833" cy="7481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0833" cy="748134"/>
            </a:xfrm>
            <a:custGeom>
              <a:avLst/>
              <a:gdLst/>
              <a:ahLst/>
              <a:cxnLst/>
              <a:rect r="r" b="b" t="t" l="l"/>
              <a:pathLst>
                <a:path h="748134" w="2010833">
                  <a:moveTo>
                    <a:pt x="0" y="0"/>
                  </a:moveTo>
                  <a:lnTo>
                    <a:pt x="2010833" y="0"/>
                  </a:lnTo>
                  <a:lnTo>
                    <a:pt x="2010833" y="748134"/>
                  </a:lnTo>
                  <a:lnTo>
                    <a:pt x="0" y="748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10833" cy="7576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spc="-30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FRON END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004815"/>
            <a:ext cx="6845300" cy="132715"/>
            <a:chOff x="0" y="0"/>
            <a:chExt cx="9127067" cy="1769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6474" cy="176911"/>
            </a:xfrm>
            <a:custGeom>
              <a:avLst/>
              <a:gdLst/>
              <a:ahLst/>
              <a:cxnLst/>
              <a:rect r="r" b="b" t="t" l="l"/>
              <a:pathLst>
                <a:path h="176911" w="9126474">
                  <a:moveTo>
                    <a:pt x="9125966" y="176911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9126474" y="24511"/>
                  </a:lnTo>
                  <a:lnTo>
                    <a:pt x="9126093" y="176911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15" y="9004117"/>
            <a:ext cx="6858000" cy="132715"/>
            <a:chOff x="0" y="0"/>
            <a:chExt cx="9144000" cy="1769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176911"/>
            </a:xfrm>
            <a:custGeom>
              <a:avLst/>
              <a:gdLst/>
              <a:ahLst/>
              <a:cxnLst/>
              <a:rect r="r" b="b" t="t" l="l"/>
              <a:pathLst>
                <a:path h="176911" w="9144000">
                  <a:moveTo>
                    <a:pt x="9144000" y="176911"/>
                  </a:moveTo>
                  <a:lnTo>
                    <a:pt x="0" y="152400"/>
                  </a:lnTo>
                  <a:lnTo>
                    <a:pt x="381" y="0"/>
                  </a:lnTo>
                  <a:lnTo>
                    <a:pt x="9144000" y="24511"/>
                  </a:lnTo>
                  <a:lnTo>
                    <a:pt x="9144000" y="176911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22473" y="4062907"/>
            <a:ext cx="9065895" cy="4556125"/>
          </a:xfrm>
          <a:custGeom>
            <a:avLst/>
            <a:gdLst/>
            <a:ahLst/>
            <a:cxnLst/>
            <a:rect r="r" b="b" t="t" l="l"/>
            <a:pathLst>
              <a:path h="4556125" w="9065895">
                <a:moveTo>
                  <a:pt x="0" y="0"/>
                </a:moveTo>
                <a:lnTo>
                  <a:pt x="9065895" y="0"/>
                </a:lnTo>
                <a:lnTo>
                  <a:pt x="9065895" y="4556125"/>
                </a:lnTo>
                <a:lnTo>
                  <a:pt x="0" y="4556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77374" y="6206505"/>
            <a:ext cx="2355517" cy="2362200"/>
          </a:xfrm>
          <a:custGeom>
            <a:avLst/>
            <a:gdLst/>
            <a:ahLst/>
            <a:cxnLst/>
            <a:rect r="r" b="b" t="t" l="l"/>
            <a:pathLst>
              <a:path h="2362200" w="2355517">
                <a:moveTo>
                  <a:pt x="0" y="0"/>
                </a:moveTo>
                <a:lnTo>
                  <a:pt x="2355517" y="0"/>
                </a:lnTo>
                <a:lnTo>
                  <a:pt x="2355517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0" r="0" b="-6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77268" y="6654705"/>
            <a:ext cx="1221105" cy="1464945"/>
          </a:xfrm>
          <a:custGeom>
            <a:avLst/>
            <a:gdLst/>
            <a:ahLst/>
            <a:cxnLst/>
            <a:rect r="r" b="b" t="t" l="l"/>
            <a:pathLst>
              <a:path h="1464945" w="1221105">
                <a:moveTo>
                  <a:pt x="0" y="0"/>
                </a:moveTo>
                <a:lnTo>
                  <a:pt x="1221105" y="0"/>
                </a:lnTo>
                <a:lnTo>
                  <a:pt x="1221105" y="1464945"/>
                </a:lnTo>
                <a:lnTo>
                  <a:pt x="0" y="14649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874582" y="3450976"/>
            <a:ext cx="2812415" cy="854710"/>
          </a:xfrm>
          <a:custGeom>
            <a:avLst/>
            <a:gdLst/>
            <a:ahLst/>
            <a:cxnLst/>
            <a:rect r="r" b="b" t="t" l="l"/>
            <a:pathLst>
              <a:path h="854710" w="2812415">
                <a:moveTo>
                  <a:pt x="0" y="0"/>
                </a:moveTo>
                <a:lnTo>
                  <a:pt x="2812415" y="0"/>
                </a:lnTo>
                <a:lnTo>
                  <a:pt x="2812415" y="854710"/>
                </a:lnTo>
                <a:lnTo>
                  <a:pt x="0" y="854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223617" y="384414"/>
            <a:ext cx="833755" cy="1021461"/>
            <a:chOff x="0" y="0"/>
            <a:chExt cx="1111673" cy="13619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7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3621" y="165047"/>
            <a:ext cx="4918710" cy="1909445"/>
          </a:xfrm>
          <a:custGeom>
            <a:avLst/>
            <a:gdLst/>
            <a:ahLst/>
            <a:cxnLst/>
            <a:rect r="r" b="b" t="t" l="l"/>
            <a:pathLst>
              <a:path h="1909445" w="4918710">
                <a:moveTo>
                  <a:pt x="0" y="0"/>
                </a:moveTo>
                <a:lnTo>
                  <a:pt x="4918710" y="0"/>
                </a:lnTo>
                <a:lnTo>
                  <a:pt x="4918710" y="1909445"/>
                </a:lnTo>
                <a:lnTo>
                  <a:pt x="0" y="19094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26468" y="3264930"/>
            <a:ext cx="8314422" cy="5354102"/>
          </a:xfrm>
          <a:custGeom>
            <a:avLst/>
            <a:gdLst/>
            <a:ahLst/>
            <a:cxnLst/>
            <a:rect r="r" b="b" t="t" l="l"/>
            <a:pathLst>
              <a:path h="5354102" w="8314422">
                <a:moveTo>
                  <a:pt x="0" y="0"/>
                </a:moveTo>
                <a:lnTo>
                  <a:pt x="8314422" y="0"/>
                </a:lnTo>
                <a:lnTo>
                  <a:pt x="8314422" y="5354102"/>
                </a:lnTo>
                <a:lnTo>
                  <a:pt x="0" y="53541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79105" y="3450976"/>
            <a:ext cx="6341105" cy="3203575"/>
            <a:chOff x="0" y="0"/>
            <a:chExt cx="8454807" cy="42714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54807" cy="4271433"/>
            </a:xfrm>
            <a:custGeom>
              <a:avLst/>
              <a:gdLst/>
              <a:ahLst/>
              <a:cxnLst/>
              <a:rect r="r" b="b" t="t" l="l"/>
              <a:pathLst>
                <a:path h="4271433" w="8454807">
                  <a:moveTo>
                    <a:pt x="0" y="0"/>
                  </a:moveTo>
                  <a:lnTo>
                    <a:pt x="8454807" y="0"/>
                  </a:lnTo>
                  <a:lnTo>
                    <a:pt x="8454807" y="4271433"/>
                  </a:lnTo>
                  <a:lnTo>
                    <a:pt x="0" y="4271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454807" cy="42809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-197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JavaScript</a:t>
              </a:r>
            </a:p>
            <a:p>
              <a:pPr algn="r">
                <a:lnSpc>
                  <a:spcPts val="3120"/>
                </a:lnSpc>
              </a:pPr>
            </a:p>
            <a:p>
              <a:pPr algn="l" marL="561342" indent="-280671" lvl="1">
                <a:lnSpc>
                  <a:spcPts val="3666"/>
                </a:lnSpc>
                <a:buFont typeface="Arial"/>
                <a:buChar char="•"/>
              </a:pPr>
              <a:r>
                <a:rPr lang="en-US" sz="2600" spc="-7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Appels AJAX (ex: recherche utilisateur, suppression sans rechargement).</a:t>
              </a:r>
            </a:p>
            <a:p>
              <a:pPr algn="l" marL="561342" indent="-280671" lvl="1">
                <a:lnSpc>
                  <a:spcPts val="3666"/>
                </a:lnSpc>
                <a:buFont typeface="Arial"/>
                <a:buChar char="•"/>
              </a:pPr>
              <a:r>
                <a:rPr lang="en-US" sz="2600" spc="-7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Gestion des événements (affichage dynamique de contenu).</a:t>
              </a:r>
            </a:p>
            <a:p>
              <a:pPr algn="l">
                <a:lnSpc>
                  <a:spcPts val="366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12514" y="3475038"/>
            <a:ext cx="6403340" cy="3315921"/>
            <a:chOff x="0" y="0"/>
            <a:chExt cx="8537787" cy="44212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37787" cy="4421228"/>
            </a:xfrm>
            <a:custGeom>
              <a:avLst/>
              <a:gdLst/>
              <a:ahLst/>
              <a:cxnLst/>
              <a:rect r="r" b="b" t="t" l="l"/>
              <a:pathLst>
                <a:path h="4421228" w="8537787">
                  <a:moveTo>
                    <a:pt x="0" y="0"/>
                  </a:moveTo>
                  <a:lnTo>
                    <a:pt x="8537787" y="0"/>
                  </a:lnTo>
                  <a:lnTo>
                    <a:pt x="8537787" y="4421228"/>
                  </a:lnTo>
                  <a:lnTo>
                    <a:pt x="0" y="4421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8537787" cy="44307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spc="-9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Bootstrap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807"/>
                </a:lnSpc>
              </a:pPr>
              <a:r>
                <a:rPr lang="en-US" sz="2700" spc="-78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Bootstrap nous a permis de créer rapidement une interface responsive et structurée, avec des composants prêts à l’emploi comme les boutons, formulaires et grilles.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417550" y="5143500"/>
            <a:ext cx="4870450" cy="2475230"/>
          </a:xfrm>
          <a:custGeom>
            <a:avLst/>
            <a:gdLst/>
            <a:ahLst/>
            <a:cxnLst/>
            <a:rect r="r" b="b" t="t" l="l"/>
            <a:pathLst>
              <a:path h="2475230" w="4870450">
                <a:moveTo>
                  <a:pt x="0" y="0"/>
                </a:moveTo>
                <a:lnTo>
                  <a:pt x="4870450" y="0"/>
                </a:lnTo>
                <a:lnTo>
                  <a:pt x="4870450" y="2475230"/>
                </a:lnTo>
                <a:lnTo>
                  <a:pt x="0" y="247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56996" y="9207952"/>
            <a:ext cx="7219949" cy="133349"/>
            <a:chOff x="0" y="0"/>
            <a:chExt cx="9626599" cy="177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5946" y="0"/>
              <a:ext cx="9474200" cy="177800"/>
            </a:xfrm>
            <a:custGeom>
              <a:avLst/>
              <a:gdLst/>
              <a:ahLst/>
              <a:cxnLst/>
              <a:rect r="r" b="b" t="t" l="l"/>
              <a:pathLst>
                <a:path h="177800" w="9474200">
                  <a:moveTo>
                    <a:pt x="508" y="0"/>
                  </a:moveTo>
                  <a:lnTo>
                    <a:pt x="9474200" y="25400"/>
                  </a:lnTo>
                  <a:lnTo>
                    <a:pt x="9473818" y="1778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125432" y="9265102"/>
            <a:ext cx="7219949" cy="133349"/>
            <a:chOff x="0" y="0"/>
            <a:chExt cx="9626599" cy="177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5946" y="0"/>
              <a:ext cx="9474200" cy="177800"/>
            </a:xfrm>
            <a:custGeom>
              <a:avLst/>
              <a:gdLst/>
              <a:ahLst/>
              <a:cxnLst/>
              <a:rect r="r" b="b" t="t" l="l"/>
              <a:pathLst>
                <a:path h="177800" w="9474200">
                  <a:moveTo>
                    <a:pt x="508" y="0"/>
                  </a:moveTo>
                  <a:lnTo>
                    <a:pt x="9474200" y="25400"/>
                  </a:lnTo>
                  <a:lnTo>
                    <a:pt x="9473818" y="1778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223617" y="384414"/>
            <a:ext cx="833755" cy="1021461"/>
            <a:chOff x="0" y="0"/>
            <a:chExt cx="1111673" cy="1361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3621" y="165047"/>
            <a:ext cx="4918710" cy="1909445"/>
          </a:xfrm>
          <a:custGeom>
            <a:avLst/>
            <a:gdLst/>
            <a:ahLst/>
            <a:cxnLst/>
            <a:rect r="r" b="b" t="t" l="l"/>
            <a:pathLst>
              <a:path h="1909445" w="4918710">
                <a:moveTo>
                  <a:pt x="0" y="0"/>
                </a:moveTo>
                <a:lnTo>
                  <a:pt x="4918710" y="0"/>
                </a:lnTo>
                <a:lnTo>
                  <a:pt x="4918710" y="1909445"/>
                </a:lnTo>
                <a:lnTo>
                  <a:pt x="0" y="1909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678724" y="509606"/>
            <a:ext cx="5076531" cy="1762899"/>
            <a:chOff x="0" y="0"/>
            <a:chExt cx="6768708" cy="23505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68708" cy="2350532"/>
            </a:xfrm>
            <a:custGeom>
              <a:avLst/>
              <a:gdLst/>
              <a:ahLst/>
              <a:cxnLst/>
              <a:rect r="r" b="b" t="t" l="l"/>
              <a:pathLst>
                <a:path h="2350532" w="6768708">
                  <a:moveTo>
                    <a:pt x="0" y="0"/>
                  </a:moveTo>
                  <a:lnTo>
                    <a:pt x="6768708" y="0"/>
                  </a:lnTo>
                  <a:lnTo>
                    <a:pt x="6768708" y="2350532"/>
                  </a:lnTo>
                  <a:lnTo>
                    <a:pt x="0" y="23505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768708" cy="23505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0199"/>
                </a:lnSpc>
              </a:pPr>
              <a:r>
                <a:rPr lang="en-US" sz="8499" spc="-101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FRONT 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71333" y="2976682"/>
            <a:ext cx="8441037" cy="3404433"/>
            <a:chOff x="0" y="0"/>
            <a:chExt cx="11254716" cy="45392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0268152" y="535605"/>
              <a:ext cx="210429" cy="105580"/>
            </a:xfrm>
            <a:custGeom>
              <a:avLst/>
              <a:gdLst/>
              <a:ahLst/>
              <a:cxnLst/>
              <a:rect r="r" b="b" t="t" l="l"/>
              <a:pathLst>
                <a:path h="105580" w="210429">
                  <a:moveTo>
                    <a:pt x="0" y="0"/>
                  </a:moveTo>
                  <a:lnTo>
                    <a:pt x="210429" y="0"/>
                  </a:lnTo>
                  <a:lnTo>
                    <a:pt x="210429" y="105580"/>
                  </a:lnTo>
                  <a:lnTo>
                    <a:pt x="0" y="105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3" t="0" r="-173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409313" y="766084"/>
              <a:ext cx="8305800" cy="2950633"/>
            </a:xfrm>
            <a:custGeom>
              <a:avLst/>
              <a:gdLst/>
              <a:ahLst/>
              <a:cxnLst/>
              <a:rect r="r" b="b" t="t" l="l"/>
              <a:pathLst>
                <a:path h="2950633" w="8305800">
                  <a:moveTo>
                    <a:pt x="0" y="0"/>
                  </a:moveTo>
                  <a:lnTo>
                    <a:pt x="8305800" y="0"/>
                  </a:lnTo>
                  <a:lnTo>
                    <a:pt x="8305800" y="2950633"/>
                  </a:lnTo>
                  <a:lnTo>
                    <a:pt x="0" y="2950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10740" cy="1139613"/>
            </a:xfrm>
            <a:custGeom>
              <a:avLst/>
              <a:gdLst/>
              <a:ahLst/>
              <a:cxnLst/>
              <a:rect r="r" b="b" t="t" l="l"/>
              <a:pathLst>
                <a:path h="1139613" w="2110740">
                  <a:moveTo>
                    <a:pt x="0" y="0"/>
                  </a:moveTo>
                  <a:lnTo>
                    <a:pt x="2110740" y="0"/>
                  </a:lnTo>
                  <a:lnTo>
                    <a:pt x="2110740" y="1139613"/>
                  </a:lnTo>
                  <a:lnTo>
                    <a:pt x="0" y="113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386051" y="104671"/>
              <a:ext cx="1468967" cy="1099410"/>
              <a:chOff x="0" y="0"/>
              <a:chExt cx="1468967" cy="109941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68967" cy="1099410"/>
              </a:xfrm>
              <a:custGeom>
                <a:avLst/>
                <a:gdLst/>
                <a:ahLst/>
                <a:cxnLst/>
                <a:rect r="r" b="b" t="t" l="l"/>
                <a:pathLst>
                  <a:path h="1099410" w="1468967">
                    <a:moveTo>
                      <a:pt x="0" y="0"/>
                    </a:moveTo>
                    <a:lnTo>
                      <a:pt x="1468967" y="0"/>
                    </a:lnTo>
                    <a:lnTo>
                      <a:pt x="1468967" y="1099410"/>
                    </a:lnTo>
                    <a:lnTo>
                      <a:pt x="0" y="10994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468967" cy="11089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4800"/>
                  </a:lnSpc>
                </a:pPr>
                <a:r>
                  <a:rPr lang="en-US" sz="4000" spc="-430">
                    <a:solidFill>
                      <a:srgbClr val="000000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AJAX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855017" y="635703"/>
              <a:ext cx="7987246" cy="3903542"/>
              <a:chOff x="0" y="0"/>
              <a:chExt cx="7943336" cy="388208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943336" cy="3882082"/>
              </a:xfrm>
              <a:custGeom>
                <a:avLst/>
                <a:gdLst/>
                <a:ahLst/>
                <a:cxnLst/>
                <a:rect r="r" b="b" t="t" l="l"/>
                <a:pathLst>
                  <a:path h="3882082" w="7943336">
                    <a:moveTo>
                      <a:pt x="0" y="0"/>
                    </a:moveTo>
                    <a:lnTo>
                      <a:pt x="7943336" y="0"/>
                    </a:lnTo>
                    <a:lnTo>
                      <a:pt x="7943336" y="3882082"/>
                    </a:lnTo>
                    <a:lnTo>
                      <a:pt x="0" y="388208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7943336" cy="3882082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3480"/>
                  </a:lnSpc>
                </a:pPr>
                <a:r>
                  <a:rPr lang="en-US" sz="2900" spc="-84">
                    <a:solidFill>
                      <a:srgbClr val="000000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Certains fichiers (ajax_search_users.php, ajax_delete_user.php) utilisent AJAX pour charger dynamiquement des données sans recharger la page.</a:t>
                </a: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9092912" y="3497649"/>
              <a:ext cx="2161804" cy="1041596"/>
            </a:xfrm>
            <a:custGeom>
              <a:avLst/>
              <a:gdLst/>
              <a:ahLst/>
              <a:cxnLst/>
              <a:rect r="r" b="b" t="t" l="l"/>
              <a:pathLst>
                <a:path h="1041596" w="2161804">
                  <a:moveTo>
                    <a:pt x="0" y="0"/>
                  </a:moveTo>
                  <a:lnTo>
                    <a:pt x="2161804" y="0"/>
                  </a:lnTo>
                  <a:lnTo>
                    <a:pt x="2161804" y="1041596"/>
                  </a:lnTo>
                  <a:lnTo>
                    <a:pt x="0" y="1041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61" t="0" r="-561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686" y="-60127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668" y="7232261"/>
            <a:ext cx="120014" cy="3112134"/>
            <a:chOff x="0" y="0"/>
            <a:chExt cx="160019" cy="41495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76073"/>
              <a:ext cx="159639" cy="3996817"/>
            </a:xfrm>
            <a:custGeom>
              <a:avLst/>
              <a:gdLst/>
              <a:ahLst/>
              <a:cxnLst/>
              <a:rect r="r" b="b" t="t" l="l"/>
              <a:pathLst>
                <a:path h="3996817" w="159639">
                  <a:moveTo>
                    <a:pt x="7239" y="3996817"/>
                  </a:moveTo>
                  <a:lnTo>
                    <a:pt x="0" y="254"/>
                  </a:lnTo>
                  <a:lnTo>
                    <a:pt x="152400" y="0"/>
                  </a:lnTo>
                  <a:lnTo>
                    <a:pt x="159639" y="3996563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3497" y="0"/>
            <a:ext cx="120014" cy="2893060"/>
            <a:chOff x="0" y="0"/>
            <a:chExt cx="160019" cy="3857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385" cy="3857371"/>
            </a:xfrm>
            <a:custGeom>
              <a:avLst/>
              <a:gdLst/>
              <a:ahLst/>
              <a:cxnLst/>
              <a:rect r="r" b="b" t="t" l="l"/>
              <a:pathLst>
                <a:path h="3857371" w="159385">
                  <a:moveTo>
                    <a:pt x="152400" y="0"/>
                  </a:moveTo>
                  <a:lnTo>
                    <a:pt x="159385" y="3857117"/>
                  </a:lnTo>
                  <a:lnTo>
                    <a:pt x="6985" y="3857371"/>
                  </a:ln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223617" y="384414"/>
            <a:ext cx="833755" cy="1021461"/>
            <a:chOff x="0" y="0"/>
            <a:chExt cx="1111673" cy="13619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63898" y="18631"/>
            <a:ext cx="7279005" cy="999490"/>
          </a:xfrm>
          <a:custGeom>
            <a:avLst/>
            <a:gdLst/>
            <a:ahLst/>
            <a:cxnLst/>
            <a:rect r="r" b="b" t="t" l="l"/>
            <a:pathLst>
              <a:path h="999490" w="7279005">
                <a:moveTo>
                  <a:pt x="0" y="0"/>
                </a:moveTo>
                <a:lnTo>
                  <a:pt x="7279005" y="0"/>
                </a:lnTo>
                <a:lnTo>
                  <a:pt x="7279005" y="999490"/>
                </a:lnTo>
                <a:lnTo>
                  <a:pt x="0" y="999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04924" y="9258300"/>
            <a:ext cx="6422390" cy="1002665"/>
          </a:xfrm>
          <a:custGeom>
            <a:avLst/>
            <a:gdLst/>
            <a:ahLst/>
            <a:cxnLst/>
            <a:rect r="r" b="b" t="t" l="l"/>
            <a:pathLst>
              <a:path h="1002665" w="6422390">
                <a:moveTo>
                  <a:pt x="0" y="0"/>
                </a:moveTo>
                <a:lnTo>
                  <a:pt x="6422390" y="0"/>
                </a:lnTo>
                <a:lnTo>
                  <a:pt x="6422390" y="1002665"/>
                </a:lnTo>
                <a:lnTo>
                  <a:pt x="0" y="1002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18973" y="7291764"/>
            <a:ext cx="3523148" cy="1824213"/>
          </a:xfrm>
          <a:custGeom>
            <a:avLst/>
            <a:gdLst/>
            <a:ahLst/>
            <a:cxnLst/>
            <a:rect r="r" b="b" t="t" l="l"/>
            <a:pathLst>
              <a:path h="1824213" w="3523148">
                <a:moveTo>
                  <a:pt x="0" y="0"/>
                </a:moveTo>
                <a:lnTo>
                  <a:pt x="3523148" y="0"/>
                </a:lnTo>
                <a:lnTo>
                  <a:pt x="3523148" y="1824213"/>
                </a:lnTo>
                <a:lnTo>
                  <a:pt x="0" y="18242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" t="0" r="-2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687784" y="7359495"/>
            <a:ext cx="3385525" cy="1688752"/>
          </a:xfrm>
          <a:custGeom>
            <a:avLst/>
            <a:gdLst/>
            <a:ahLst/>
            <a:cxnLst/>
            <a:rect r="r" b="b" t="t" l="l"/>
            <a:pathLst>
              <a:path h="1688752" w="3385525">
                <a:moveTo>
                  <a:pt x="0" y="0"/>
                </a:moveTo>
                <a:lnTo>
                  <a:pt x="3385525" y="0"/>
                </a:lnTo>
                <a:lnTo>
                  <a:pt x="3385525" y="1688752"/>
                </a:lnTo>
                <a:lnTo>
                  <a:pt x="0" y="1688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8" r="0" b="-48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243234" y="2312492"/>
            <a:ext cx="3441514" cy="1784516"/>
            <a:chOff x="0" y="0"/>
            <a:chExt cx="4588685" cy="23793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1452255"/>
              <a:ext cx="1904153" cy="927100"/>
            </a:xfrm>
            <a:custGeom>
              <a:avLst/>
              <a:gdLst/>
              <a:ahLst/>
              <a:cxnLst/>
              <a:rect r="r" b="b" t="t" l="l"/>
              <a:pathLst>
                <a:path h="927100" w="1904153">
                  <a:moveTo>
                    <a:pt x="0" y="0"/>
                  </a:moveTo>
                  <a:lnTo>
                    <a:pt x="1904153" y="0"/>
                  </a:lnTo>
                  <a:lnTo>
                    <a:pt x="1904153" y="927100"/>
                  </a:lnTo>
                  <a:lnTo>
                    <a:pt x="0" y="92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021263" y="1465789"/>
              <a:ext cx="2297852" cy="805180"/>
            </a:xfrm>
            <a:custGeom>
              <a:avLst/>
              <a:gdLst/>
              <a:ahLst/>
              <a:cxnLst/>
              <a:rect r="r" b="b" t="t" l="l"/>
              <a:pathLst>
                <a:path h="805180" w="2297852">
                  <a:moveTo>
                    <a:pt x="0" y="0"/>
                  </a:moveTo>
                  <a:lnTo>
                    <a:pt x="2297852" y="0"/>
                  </a:lnTo>
                  <a:lnTo>
                    <a:pt x="2297852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876725" y="0"/>
              <a:ext cx="171196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711960">
                  <a:moveTo>
                    <a:pt x="0" y="0"/>
                  </a:moveTo>
                  <a:lnTo>
                    <a:pt x="1711960" y="0"/>
                  </a:lnTo>
                  <a:lnTo>
                    <a:pt x="1711960" y="1676400"/>
                  </a:lnTo>
                  <a:lnTo>
                    <a:pt x="0" y="167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217003" y="287416"/>
              <a:ext cx="92957" cy="111415"/>
            </a:xfrm>
            <a:custGeom>
              <a:avLst/>
              <a:gdLst/>
              <a:ahLst/>
              <a:cxnLst/>
              <a:rect r="r" b="b" t="t" l="l"/>
              <a:pathLst>
                <a:path h="111415" w="92957">
                  <a:moveTo>
                    <a:pt x="0" y="0"/>
                  </a:moveTo>
                  <a:lnTo>
                    <a:pt x="92957" y="0"/>
                  </a:lnTo>
                  <a:lnTo>
                    <a:pt x="92957" y="111415"/>
                  </a:lnTo>
                  <a:lnTo>
                    <a:pt x="0" y="111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3635" r="0" b="-3635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3932386" y="5083373"/>
            <a:ext cx="168029" cy="167763"/>
          </a:xfrm>
          <a:custGeom>
            <a:avLst/>
            <a:gdLst/>
            <a:ahLst/>
            <a:cxnLst/>
            <a:rect r="r" b="b" t="t" l="l"/>
            <a:pathLst>
              <a:path h="167763" w="168029">
                <a:moveTo>
                  <a:pt x="0" y="0"/>
                </a:moveTo>
                <a:lnTo>
                  <a:pt x="168029" y="0"/>
                </a:lnTo>
                <a:lnTo>
                  <a:pt x="168029" y="167763"/>
                </a:lnTo>
                <a:lnTo>
                  <a:pt x="0" y="16776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347" t="0" r="-1347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63898" y="518376"/>
            <a:ext cx="14420850" cy="9394608"/>
            <a:chOff x="0" y="0"/>
            <a:chExt cx="19227800" cy="125261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227800" cy="12526145"/>
            </a:xfrm>
            <a:custGeom>
              <a:avLst/>
              <a:gdLst/>
              <a:ahLst/>
              <a:cxnLst/>
              <a:rect r="r" b="b" t="t" l="l"/>
              <a:pathLst>
                <a:path h="12526145" w="19227800">
                  <a:moveTo>
                    <a:pt x="0" y="0"/>
                  </a:moveTo>
                  <a:lnTo>
                    <a:pt x="19227800" y="0"/>
                  </a:lnTo>
                  <a:lnTo>
                    <a:pt x="19227800" y="12526145"/>
                  </a:lnTo>
                  <a:lnTo>
                    <a:pt x="0" y="12526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9227800" cy="1253566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0200"/>
                </a:lnSpc>
              </a:pPr>
              <a:r>
                <a:rPr lang="en-US" sz="8500" spc="-110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BACK END</a:t>
              </a:r>
            </a:p>
            <a:p>
              <a:pPr algn="l">
                <a:lnSpc>
                  <a:spcPts val="5597"/>
                </a:lnSpc>
              </a:pPr>
            </a:p>
            <a:p>
              <a:pPr algn="l">
                <a:lnSpc>
                  <a:spcPts val="435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083314" y="6292532"/>
            <a:ext cx="9144000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 spc="-95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PHP (M</a:t>
            </a:r>
            <a:r>
              <a:rPr lang="en-US" b="true" sz="3299" spc="-95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VC)</a:t>
            </a:r>
          </a:p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 spc="-9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Notre backend est développé avec PHP en suivant le modèle MVC, ce qui permet une séparation claire entre la logique, l’affichage et les données pour une meilleure maintenance du code.</a:t>
            </a:r>
          </a:p>
          <a:p>
            <a:pPr algn="ctr">
              <a:lnSpc>
                <a:spcPts val="395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244904" y="3204750"/>
            <a:ext cx="8428017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 spc="-95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Base de données MySQL</a:t>
            </a:r>
          </a:p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 spc="-9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Nous utilisons MySQL pour gérer toutes les données liées aux utilisateurs, livres, réservations et réclamations, tout en assurant leur sécurité, intégrité et accessibilité.</a:t>
            </a:r>
          </a:p>
          <a:p>
            <a:pPr algn="ctr">
              <a:lnSpc>
                <a:spcPts val="39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686" y="-60127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668" y="7232261"/>
            <a:ext cx="120014" cy="3112134"/>
            <a:chOff x="0" y="0"/>
            <a:chExt cx="160019" cy="41495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76073"/>
              <a:ext cx="159639" cy="3996817"/>
            </a:xfrm>
            <a:custGeom>
              <a:avLst/>
              <a:gdLst/>
              <a:ahLst/>
              <a:cxnLst/>
              <a:rect r="r" b="b" t="t" l="l"/>
              <a:pathLst>
                <a:path h="3996817" w="159639">
                  <a:moveTo>
                    <a:pt x="7239" y="3996817"/>
                  </a:moveTo>
                  <a:lnTo>
                    <a:pt x="0" y="254"/>
                  </a:lnTo>
                  <a:lnTo>
                    <a:pt x="152400" y="0"/>
                  </a:lnTo>
                  <a:lnTo>
                    <a:pt x="159639" y="3996563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3497" y="0"/>
            <a:ext cx="120014" cy="2893060"/>
            <a:chOff x="0" y="0"/>
            <a:chExt cx="160019" cy="3857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385" cy="3857371"/>
            </a:xfrm>
            <a:custGeom>
              <a:avLst/>
              <a:gdLst/>
              <a:ahLst/>
              <a:cxnLst/>
              <a:rect r="r" b="b" t="t" l="l"/>
              <a:pathLst>
                <a:path h="3857371" w="159385">
                  <a:moveTo>
                    <a:pt x="152400" y="0"/>
                  </a:moveTo>
                  <a:lnTo>
                    <a:pt x="159385" y="3857117"/>
                  </a:lnTo>
                  <a:lnTo>
                    <a:pt x="6985" y="3857371"/>
                  </a:ln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EC2D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223617" y="384414"/>
            <a:ext cx="833755" cy="1021461"/>
            <a:chOff x="0" y="0"/>
            <a:chExt cx="1111673" cy="13619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63898" y="18631"/>
            <a:ext cx="7279005" cy="999490"/>
          </a:xfrm>
          <a:custGeom>
            <a:avLst/>
            <a:gdLst/>
            <a:ahLst/>
            <a:cxnLst/>
            <a:rect r="r" b="b" t="t" l="l"/>
            <a:pathLst>
              <a:path h="999490" w="7279005">
                <a:moveTo>
                  <a:pt x="0" y="0"/>
                </a:moveTo>
                <a:lnTo>
                  <a:pt x="7279005" y="0"/>
                </a:lnTo>
                <a:lnTo>
                  <a:pt x="7279005" y="999490"/>
                </a:lnTo>
                <a:lnTo>
                  <a:pt x="0" y="999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04924" y="9258300"/>
            <a:ext cx="6422390" cy="1002665"/>
          </a:xfrm>
          <a:custGeom>
            <a:avLst/>
            <a:gdLst/>
            <a:ahLst/>
            <a:cxnLst/>
            <a:rect r="r" b="b" t="t" l="l"/>
            <a:pathLst>
              <a:path h="1002665" w="6422390">
                <a:moveTo>
                  <a:pt x="0" y="0"/>
                </a:moveTo>
                <a:lnTo>
                  <a:pt x="6422390" y="0"/>
                </a:lnTo>
                <a:lnTo>
                  <a:pt x="6422390" y="1002665"/>
                </a:lnTo>
                <a:lnTo>
                  <a:pt x="0" y="1002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95004" y="553832"/>
            <a:ext cx="14420850" cy="9394608"/>
            <a:chOff x="0" y="0"/>
            <a:chExt cx="19227800" cy="125261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27800" cy="12526145"/>
            </a:xfrm>
            <a:custGeom>
              <a:avLst/>
              <a:gdLst/>
              <a:ahLst/>
              <a:cxnLst/>
              <a:rect r="r" b="b" t="t" l="l"/>
              <a:pathLst>
                <a:path h="12526145" w="19227800">
                  <a:moveTo>
                    <a:pt x="0" y="0"/>
                  </a:moveTo>
                  <a:lnTo>
                    <a:pt x="19227800" y="0"/>
                  </a:lnTo>
                  <a:lnTo>
                    <a:pt x="19227800" y="12526145"/>
                  </a:lnTo>
                  <a:lnTo>
                    <a:pt x="0" y="12526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9227800" cy="1253566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0200"/>
                </a:lnSpc>
              </a:pPr>
              <a:r>
                <a:rPr lang="en-US" sz="8500" spc="-110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BACK END</a:t>
              </a:r>
            </a:p>
            <a:p>
              <a:pPr algn="l">
                <a:lnSpc>
                  <a:spcPts val="5597"/>
                </a:lnSpc>
              </a:pPr>
            </a:p>
            <a:p>
              <a:pPr algn="l">
                <a:lnSpc>
                  <a:spcPts val="435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932386" y="5083373"/>
            <a:ext cx="168029" cy="167763"/>
          </a:xfrm>
          <a:custGeom>
            <a:avLst/>
            <a:gdLst/>
            <a:ahLst/>
            <a:cxnLst/>
            <a:rect r="r" b="b" t="t" l="l"/>
            <a:pathLst>
              <a:path h="167763" w="168029">
                <a:moveTo>
                  <a:pt x="0" y="0"/>
                </a:moveTo>
                <a:lnTo>
                  <a:pt x="168029" y="0"/>
                </a:lnTo>
                <a:lnTo>
                  <a:pt x="168029" y="167763"/>
                </a:lnTo>
                <a:lnTo>
                  <a:pt x="0" y="167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47" t="0" r="-134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083314" y="6311828"/>
            <a:ext cx="9144000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b="true" sz="3299" spc="-95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Sessions PHP</a:t>
            </a:r>
          </a:p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 spc="-9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  <a:r>
              <a:rPr lang="en-US" sz="3299" spc="-9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tilisées pour gérer l’authentification, les rôles utilisateur (etudiant, admin) et les connexions sécurisées entre pages.</a:t>
            </a:r>
          </a:p>
          <a:p>
            <a:pPr algn="ctr">
              <a:lnSpc>
                <a:spcPts val="39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811453" y="2669043"/>
            <a:ext cx="8428017" cy="297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 spc="-95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PDO (PHP  Data Objects)</a:t>
            </a:r>
          </a:p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 spc="-9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Utilisé pour se connecter à la base de données MySQL de manière sécurisée et orientée objet.</a:t>
            </a:r>
          </a:p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 spc="-9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Il permet aussi d’utiliser des requêtes préparées pour éviter les injections SQL.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996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417624" y="6143855"/>
            <a:ext cx="4870450" cy="2475230"/>
          </a:xfrm>
          <a:custGeom>
            <a:avLst/>
            <a:gdLst/>
            <a:ahLst/>
            <a:cxnLst/>
            <a:rect r="r" b="b" t="t" l="l"/>
            <a:pathLst>
              <a:path h="2475230" w="4870450">
                <a:moveTo>
                  <a:pt x="0" y="0"/>
                </a:moveTo>
                <a:lnTo>
                  <a:pt x="4870450" y="0"/>
                </a:lnTo>
                <a:lnTo>
                  <a:pt x="4870450" y="2475230"/>
                </a:lnTo>
                <a:lnTo>
                  <a:pt x="0" y="247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51515" y="6307377"/>
            <a:ext cx="157822" cy="79185"/>
          </a:xfrm>
          <a:custGeom>
            <a:avLst/>
            <a:gdLst/>
            <a:ahLst/>
            <a:cxnLst/>
            <a:rect r="r" b="b" t="t" l="l"/>
            <a:pathLst>
              <a:path h="79185" w="157822">
                <a:moveTo>
                  <a:pt x="0" y="0"/>
                </a:moveTo>
                <a:lnTo>
                  <a:pt x="157822" y="0"/>
                </a:lnTo>
                <a:lnTo>
                  <a:pt x="157822" y="79185"/>
                </a:lnTo>
                <a:lnTo>
                  <a:pt x="0" y="791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3" t="0" r="-17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223617" y="384414"/>
            <a:ext cx="833755" cy="1021461"/>
            <a:chOff x="0" y="0"/>
            <a:chExt cx="1111673" cy="13619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673" cy="1361948"/>
            </a:xfrm>
            <a:custGeom>
              <a:avLst/>
              <a:gdLst/>
              <a:ahLst/>
              <a:cxnLst/>
              <a:rect r="r" b="b" t="t" l="l"/>
              <a:pathLst>
                <a:path h="1361948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361948"/>
                  </a:lnTo>
                  <a:lnTo>
                    <a:pt x="0" y="1361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111673" cy="14667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3621" y="165047"/>
            <a:ext cx="4918710" cy="1909445"/>
          </a:xfrm>
          <a:custGeom>
            <a:avLst/>
            <a:gdLst/>
            <a:ahLst/>
            <a:cxnLst/>
            <a:rect r="r" b="b" t="t" l="l"/>
            <a:pathLst>
              <a:path h="1909445" w="4918710">
                <a:moveTo>
                  <a:pt x="0" y="0"/>
                </a:moveTo>
                <a:lnTo>
                  <a:pt x="4918710" y="0"/>
                </a:lnTo>
                <a:lnTo>
                  <a:pt x="4918710" y="1909445"/>
                </a:lnTo>
                <a:lnTo>
                  <a:pt x="0" y="19094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973828" y="165047"/>
            <a:ext cx="7895931" cy="4496325"/>
            <a:chOff x="0" y="0"/>
            <a:chExt cx="10527908" cy="5995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27908" cy="5995100"/>
            </a:xfrm>
            <a:custGeom>
              <a:avLst/>
              <a:gdLst/>
              <a:ahLst/>
              <a:cxnLst/>
              <a:rect r="r" b="b" t="t" l="l"/>
              <a:pathLst>
                <a:path h="5995100" w="10527908">
                  <a:moveTo>
                    <a:pt x="0" y="0"/>
                  </a:moveTo>
                  <a:lnTo>
                    <a:pt x="10527908" y="0"/>
                  </a:lnTo>
                  <a:lnTo>
                    <a:pt x="10527908" y="5995100"/>
                  </a:lnTo>
                  <a:lnTo>
                    <a:pt x="0" y="5995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27908" cy="60046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spc="-80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🔹  </a:t>
              </a:r>
              <a:r>
                <a:rPr lang="en-US" sz="6800" spc="-80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Perspectives</a:t>
              </a:r>
              <a:r>
                <a:rPr lang="en-US" sz="6800" spc="-80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   d’amélioration</a:t>
              </a:r>
            </a:p>
            <a:p>
              <a:pPr algn="l">
                <a:lnSpc>
                  <a:spcPts val="8160"/>
                </a:lnSpc>
              </a:pPr>
            </a:p>
            <a:p>
              <a:pPr algn="l">
                <a:lnSpc>
                  <a:spcPts val="8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59624" y="2934124"/>
            <a:ext cx="13149713" cy="5471345"/>
            <a:chOff x="0" y="0"/>
            <a:chExt cx="3463299" cy="14410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63299" cy="1441013"/>
            </a:xfrm>
            <a:custGeom>
              <a:avLst/>
              <a:gdLst/>
              <a:ahLst/>
              <a:cxnLst/>
              <a:rect r="r" b="b" t="t" l="l"/>
              <a:pathLst>
                <a:path h="1441013" w="3463299">
                  <a:moveTo>
                    <a:pt x="47689" y="0"/>
                  </a:moveTo>
                  <a:lnTo>
                    <a:pt x="3415610" y="0"/>
                  </a:lnTo>
                  <a:cubicBezTo>
                    <a:pt x="3441948" y="0"/>
                    <a:pt x="3463299" y="21351"/>
                    <a:pt x="3463299" y="47689"/>
                  </a:cubicBezTo>
                  <a:lnTo>
                    <a:pt x="3463299" y="1393324"/>
                  </a:lnTo>
                  <a:cubicBezTo>
                    <a:pt x="3463299" y="1419662"/>
                    <a:pt x="3441948" y="1441013"/>
                    <a:pt x="3415610" y="1441013"/>
                  </a:cubicBezTo>
                  <a:lnTo>
                    <a:pt x="47689" y="1441013"/>
                  </a:lnTo>
                  <a:cubicBezTo>
                    <a:pt x="35041" y="1441013"/>
                    <a:pt x="22911" y="1435988"/>
                    <a:pt x="13968" y="1427045"/>
                  </a:cubicBezTo>
                  <a:cubicBezTo>
                    <a:pt x="5024" y="1418101"/>
                    <a:pt x="0" y="1405972"/>
                    <a:pt x="0" y="1393324"/>
                  </a:cubicBezTo>
                  <a:lnTo>
                    <a:pt x="0" y="47689"/>
                  </a:lnTo>
                  <a:cubicBezTo>
                    <a:pt x="0" y="21351"/>
                    <a:pt x="21351" y="0"/>
                    <a:pt x="47689" y="0"/>
                  </a:cubicBezTo>
                  <a:close/>
                </a:path>
              </a:pathLst>
            </a:custGeom>
            <a:solidFill>
              <a:srgbClr val="E8C7C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463299" cy="1479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557744" y="6061600"/>
            <a:ext cx="8177663" cy="88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733167" y="3166719"/>
            <a:ext cx="8177663" cy="523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Ajout d’un système de réservation de places en bibliothèque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Ajout d’un m</a:t>
            </a: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oteur de recherche intelligent (suggestions automatiques, correction des fautes)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Intégration d’un mini-chatbot pour l’aide à la navigation ( disponibilité des livres)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Envoi de notifications par e-mail (rappels de réservation, nouveautés)</a:t>
            </a: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Adaptation en version mobile responsive</a:t>
            </a:r>
          </a:p>
          <a:p>
            <a:pPr algn="ctr">
              <a:lnSpc>
                <a:spcPts val="3180"/>
              </a:lnSpc>
              <a:spcBef>
                <a:spcPct val="0"/>
              </a:spcBef>
            </a:pPr>
          </a:p>
          <a:p>
            <a:pPr algn="ctr">
              <a:lnSpc>
                <a:spcPts val="16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982997" y="5945562"/>
            <a:ext cx="5198745" cy="2476500"/>
          </a:xfrm>
          <a:custGeom>
            <a:avLst/>
            <a:gdLst/>
            <a:ahLst/>
            <a:cxnLst/>
            <a:rect r="r" b="b" t="t" l="l"/>
            <a:pathLst>
              <a:path h="2476500" w="5198745">
                <a:moveTo>
                  <a:pt x="0" y="0"/>
                </a:moveTo>
                <a:lnTo>
                  <a:pt x="5198745" y="0"/>
                </a:lnTo>
                <a:lnTo>
                  <a:pt x="5198745" y="2476500"/>
                </a:lnTo>
                <a:lnTo>
                  <a:pt x="0" y="247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21149" y="2075504"/>
            <a:ext cx="5795424" cy="5795400"/>
          </a:xfrm>
          <a:custGeom>
            <a:avLst/>
            <a:gdLst/>
            <a:ahLst/>
            <a:cxnLst/>
            <a:rect r="r" b="b" t="t" l="l"/>
            <a:pathLst>
              <a:path h="5795400" w="5795424">
                <a:moveTo>
                  <a:pt x="0" y="0"/>
                </a:moveTo>
                <a:lnTo>
                  <a:pt x="5795424" y="0"/>
                </a:lnTo>
                <a:lnTo>
                  <a:pt x="5795424" y="5795400"/>
                </a:lnTo>
                <a:lnTo>
                  <a:pt x="0" y="57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1" r="0" b="-4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15854" y="0"/>
            <a:ext cx="1449705" cy="1673225"/>
          </a:xfrm>
          <a:custGeom>
            <a:avLst/>
            <a:gdLst/>
            <a:ahLst/>
            <a:cxnLst/>
            <a:rect r="r" b="b" t="t" l="l"/>
            <a:pathLst>
              <a:path h="1673225" w="1449705">
                <a:moveTo>
                  <a:pt x="0" y="0"/>
                </a:moveTo>
                <a:lnTo>
                  <a:pt x="1449705" y="0"/>
                </a:lnTo>
                <a:lnTo>
                  <a:pt x="1449705" y="1673225"/>
                </a:lnTo>
                <a:lnTo>
                  <a:pt x="0" y="16732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223617" y="390090"/>
            <a:ext cx="833755" cy="875030"/>
            <a:chOff x="0" y="0"/>
            <a:chExt cx="1111673" cy="11667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673" cy="1166707"/>
            </a:xfrm>
            <a:custGeom>
              <a:avLst/>
              <a:gdLst/>
              <a:ahLst/>
              <a:cxnLst/>
              <a:rect r="r" b="b" t="t" l="l"/>
              <a:pathLst>
                <a:path h="1166707" w="1111673">
                  <a:moveTo>
                    <a:pt x="0" y="0"/>
                  </a:moveTo>
                  <a:lnTo>
                    <a:pt x="1111673" y="0"/>
                  </a:lnTo>
                  <a:lnTo>
                    <a:pt x="1111673" y="1166707"/>
                  </a:lnTo>
                  <a:lnTo>
                    <a:pt x="0" y="1166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111673" cy="127148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59"/>
                </a:lnSpc>
              </a:pPr>
              <a:r>
                <a:rPr lang="en-US" sz="5550" spc="-5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96310" y="3470269"/>
            <a:ext cx="8028940" cy="3277083"/>
            <a:chOff x="0" y="0"/>
            <a:chExt cx="10705253" cy="43694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05254" cy="4369444"/>
            </a:xfrm>
            <a:custGeom>
              <a:avLst/>
              <a:gdLst/>
              <a:ahLst/>
              <a:cxnLst/>
              <a:rect r="r" b="b" t="t" l="l"/>
              <a:pathLst>
                <a:path h="4369444" w="10705254">
                  <a:moveTo>
                    <a:pt x="0" y="0"/>
                  </a:moveTo>
                  <a:lnTo>
                    <a:pt x="10705254" y="0"/>
                  </a:lnTo>
                  <a:lnTo>
                    <a:pt x="10705254" y="4369444"/>
                  </a:lnTo>
                  <a:lnTo>
                    <a:pt x="0" y="43694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61925"/>
              <a:ext cx="10705253" cy="453136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1852"/>
                </a:lnSpc>
              </a:pPr>
              <a:r>
                <a:rPr lang="en-US" sz="8500" spc="-110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DÉMONSTRATION TECHNIQUE....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0" y="165047"/>
            <a:ext cx="4305935" cy="1909445"/>
          </a:xfrm>
          <a:custGeom>
            <a:avLst/>
            <a:gdLst/>
            <a:ahLst/>
            <a:cxnLst/>
            <a:rect r="r" b="b" t="t" l="l"/>
            <a:pathLst>
              <a:path h="1909445" w="4305935">
                <a:moveTo>
                  <a:pt x="0" y="0"/>
                </a:moveTo>
                <a:lnTo>
                  <a:pt x="4305935" y="0"/>
                </a:lnTo>
                <a:lnTo>
                  <a:pt x="4305935" y="1909445"/>
                </a:lnTo>
                <a:lnTo>
                  <a:pt x="0" y="19094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08012" y="0"/>
            <a:ext cx="14080490" cy="10287000"/>
            <a:chOff x="0" y="0"/>
            <a:chExt cx="1877398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7326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773267">
                  <a:moveTo>
                    <a:pt x="0" y="13716000"/>
                  </a:moveTo>
                  <a:lnTo>
                    <a:pt x="18773267" y="13716000"/>
                  </a:lnTo>
                  <a:lnTo>
                    <a:pt x="18773267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2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43527" y="3378273"/>
            <a:ext cx="9380220" cy="3438172"/>
            <a:chOff x="0" y="0"/>
            <a:chExt cx="12506960" cy="45842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06960" cy="4584230"/>
            </a:xfrm>
            <a:custGeom>
              <a:avLst/>
              <a:gdLst/>
              <a:ahLst/>
              <a:cxnLst/>
              <a:rect r="r" b="b" t="t" l="l"/>
              <a:pathLst>
                <a:path h="4584230" w="12506960">
                  <a:moveTo>
                    <a:pt x="0" y="0"/>
                  </a:moveTo>
                  <a:lnTo>
                    <a:pt x="12506960" y="0"/>
                  </a:lnTo>
                  <a:lnTo>
                    <a:pt x="12506960" y="4584230"/>
                  </a:lnTo>
                  <a:lnTo>
                    <a:pt x="0" y="45842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71450"/>
              <a:ext cx="12506960" cy="475568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2522"/>
                </a:lnSpc>
              </a:pPr>
              <a:r>
                <a:rPr lang="en-US" sz="8950" spc="-1085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MERCI POUR VOTRE ATTENTION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18223230" cy="10283201"/>
          </a:xfrm>
          <a:custGeom>
            <a:avLst/>
            <a:gdLst/>
            <a:ahLst/>
            <a:cxnLst/>
            <a:rect r="r" b="b" t="t" l="l"/>
            <a:pathLst>
              <a:path h="10283201" w="18223230">
                <a:moveTo>
                  <a:pt x="0" y="0"/>
                </a:moveTo>
                <a:lnTo>
                  <a:pt x="18223230" y="0"/>
                </a:lnTo>
                <a:lnTo>
                  <a:pt x="18223230" y="10283201"/>
                </a:lnTo>
                <a:lnTo>
                  <a:pt x="0" y="10283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DAGoCEEgjeM</dc:identifier>
  <dcterms:modified xsi:type="dcterms:W3CDTF">2011-08-01T06:04:30Z</dcterms:modified>
  <cp:revision>1</cp:revision>
  <dc:title>Presentation_web.pptx</dc:title>
</cp:coreProperties>
</file>